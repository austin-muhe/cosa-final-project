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research question. Our project is about test-time adaptation for time-series forecasting. We compare two directions beyond COSA: COSA+ keeps online adaptation and Dynamic Regime Adapter moves adaptation offline. The key message is trade-offs, not one universal best method.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motivates the problem. In deployment, time series can change because of sensors, weather, demand, or structural changes. Standard evaluation assumes the test distribution is stable. Our project asks what happens when that assumption breaks.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COSA is our baseline. It freezes the forecasting backbone and adapts a small output-space module online. This is lighter than updating the full model, but it still requires test-time backpropagation.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explored two directions. COSA+ keeps COSA’s online adaptation but adds richer context and a horizon-wise vector gate. Dynamic Regime Adapter learns a latent regime representation offline, then generates a correction gate in one forward 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experiments use Weather and ETTh1 with a frozen DLinear backbone. We evaluate clean test performance and black-swan shifts. The black-swan protocol transforms the stream after a shift point using level, variance, trend, or spike shifts, then measures recovery with mse_after_50.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results show the trade-off. On Weather horizon 96, the Dynamic Regime Adapter with mixed loss gives the best MSE without test-time backpropagation. On ETTh1 horizon 720, COSA+ gives the strongest clean and black-swan correction. The recovery plot shows COSA+ is consistently below original COSA after abrupt shifts.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we learned. COSA+ is useful in a specific robustness regime, especially long-horizon abrupt shifts. Dynamic Regime Adapter is attractive when inference cost matters. We do not claim a universal best method; the project compares trade-offs and identifies limitations.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40080" y="502920"/>
            <a:ext cx="10789920" cy="594360"/>
          </a:xfrm>
          <a:prstGeom prst="rect">
            <a:avLst/>
          </a:prstGeom>
          <a:noFill/>
        </p:spPr>
        <p:txBody>
          <a:bodyPr wrap="none" lIns="45720" rIns="45720" tIns="27432" bIns="27432" anchor="ctr">
            <a:spAutoFit/>
          </a:bodyPr>
          <a:lstStyle/>
          <a:p>
            <a:pPr algn="l"/>
            <a:r>
              <a:rPr sz="3400" b="1">
                <a:solidFill>
                  <a:srgbClr val="0F172A"/>
                </a:solidFill>
                <a:latin typeface="Aptos"/>
              </a:rPr>
              <a:t>COSA+ and Dynamic Regime Adaptation</a:t>
            </a:r>
          </a:p>
        </p:txBody>
      </p:sp>
      <p:sp>
        <p:nvSpPr>
          <p:cNvPr id="3" name="TextBox 2"/>
          <p:cNvSpPr txBox="1"/>
          <p:nvPr/>
        </p:nvSpPr>
        <p:spPr>
          <a:xfrm>
            <a:off x="658368" y="1143000"/>
            <a:ext cx="10515600" cy="320040"/>
          </a:xfrm>
          <a:prstGeom prst="rect">
            <a:avLst/>
          </a:prstGeom>
          <a:noFill/>
        </p:spPr>
        <p:txBody>
          <a:bodyPr wrap="none" lIns="45720" rIns="45720" tIns="27432" bIns="27432" anchor="ctr">
            <a:spAutoFit/>
          </a:bodyPr>
          <a:lstStyle/>
          <a:p>
            <a:pPr algn="l"/>
            <a:r>
              <a:rPr sz="1900" b="0">
                <a:solidFill>
                  <a:srgbClr val="475569"/>
                </a:solidFill>
                <a:latin typeface="Aptos"/>
              </a:rPr>
              <a:t>Time-Series Test-Time Adaptation under Distribution Shift</a:t>
            </a:r>
          </a:p>
        </p:txBody>
      </p:sp>
      <p:sp>
        <p:nvSpPr>
          <p:cNvPr id="4" name="Rounded Rectangle 3"/>
          <p:cNvSpPr/>
          <p:nvPr/>
        </p:nvSpPr>
        <p:spPr>
          <a:xfrm>
            <a:off x="822960" y="1874519"/>
            <a:ext cx="2743200" cy="594360"/>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2563EB"/>
                </a:solidFill>
                <a:latin typeface="Aptos"/>
              </a:rPr>
              <a:t>Research Question</a:t>
            </a:r>
          </a:p>
        </p:txBody>
      </p:sp>
      <p:sp>
        <p:nvSpPr>
          <p:cNvPr id="5" name="TextBox 4"/>
          <p:cNvSpPr txBox="1"/>
          <p:nvPr/>
        </p:nvSpPr>
        <p:spPr>
          <a:xfrm>
            <a:off x="914400" y="2697480"/>
            <a:ext cx="10149840" cy="640080"/>
          </a:xfrm>
          <a:prstGeom prst="rect">
            <a:avLst/>
          </a:prstGeom>
          <a:noFill/>
        </p:spPr>
        <p:txBody>
          <a:bodyPr wrap="none" lIns="45720" rIns="45720" tIns="27432" bIns="27432" anchor="ctr">
            <a:spAutoFit/>
          </a:bodyPr>
          <a:lstStyle/>
          <a:p>
            <a:pPr algn="ctr"/>
            <a:r>
              <a:rPr sz="2700" b="1">
                <a:solidFill>
                  <a:srgbClr val="0F172A"/>
                </a:solidFill>
                <a:latin typeface="Aptos"/>
              </a:rPr>
              <a:t>Can output-space adaptation stay useful when deployed time-series streams suddenly change?</a:t>
            </a:r>
          </a:p>
        </p:txBody>
      </p:sp>
      <p:sp>
        <p:nvSpPr>
          <p:cNvPr id="6" name="Rounded Rectangle 5"/>
          <p:cNvSpPr/>
          <p:nvPr/>
        </p:nvSpPr>
        <p:spPr>
          <a:xfrm>
            <a:off x="1051560" y="4069080"/>
            <a:ext cx="3200400" cy="105156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16A34A"/>
                </a:solidFill>
                <a:latin typeface="Aptos"/>
              </a:rPr>
              <a:t>COSA+
stronger online correction</a:t>
            </a:r>
          </a:p>
        </p:txBody>
      </p:sp>
      <p:sp>
        <p:nvSpPr>
          <p:cNvPr id="7" name="Rounded Rectangle 6"/>
          <p:cNvSpPr/>
          <p:nvPr/>
        </p:nvSpPr>
        <p:spPr>
          <a:xfrm>
            <a:off x="4480560" y="4069080"/>
            <a:ext cx="3383280" cy="105156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7C3AED"/>
                </a:solidFill>
                <a:latin typeface="Aptos"/>
              </a:rPr>
              <a:t>Dynamic Regime Adapter
zero-shot, no backprop</a:t>
            </a:r>
          </a:p>
        </p:txBody>
      </p:sp>
      <p:sp>
        <p:nvSpPr>
          <p:cNvPr id="8" name="Rounded Rectangle 7"/>
          <p:cNvSpPr/>
          <p:nvPr/>
        </p:nvSpPr>
        <p:spPr>
          <a:xfrm>
            <a:off x="8092440" y="4069080"/>
            <a:ext cx="3063240" cy="105156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B45309"/>
                </a:solidFill>
                <a:latin typeface="Aptos"/>
              </a:rPr>
              <a:t>Compare trade-offs
not a universal winner</a:t>
            </a:r>
          </a:p>
        </p:txBody>
      </p:sp>
      <p:sp>
        <p:nvSpPr>
          <p:cNvPr id="9" name="TextBox 8"/>
          <p:cNvSpPr txBox="1"/>
          <p:nvPr/>
        </p:nvSpPr>
        <p:spPr>
          <a:xfrm>
            <a:off x="713232" y="6144768"/>
            <a:ext cx="10789920" cy="228600"/>
          </a:xfrm>
          <a:prstGeom prst="rect">
            <a:avLst/>
          </a:prstGeom>
          <a:noFill/>
        </p:spPr>
        <p:txBody>
          <a:bodyPr wrap="none" lIns="45720" rIns="45720" tIns="27432" bIns="27432" anchor="ctr">
            <a:spAutoFit/>
          </a:bodyPr>
          <a:lstStyle/>
          <a:p>
            <a:pPr algn="l"/>
            <a:r>
              <a:rPr sz="1200" b="0">
                <a:solidFill>
                  <a:srgbClr val="475569"/>
                </a:solidFill>
                <a:latin typeface="Aptos"/>
              </a:rPr>
              <a:t>CPS3830 Course Project | 7-minute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56032"/>
            <a:ext cx="10881360" cy="438912"/>
          </a:xfrm>
          <a:prstGeom prst="rect">
            <a:avLst/>
          </a:prstGeom>
          <a:noFill/>
        </p:spPr>
        <p:txBody>
          <a:bodyPr wrap="none" lIns="45720" rIns="45720" tIns="27432" bIns="27432" anchor="ctr">
            <a:spAutoFit/>
          </a:bodyPr>
          <a:lstStyle/>
          <a:p>
            <a:pPr algn="l"/>
            <a:r>
              <a:rPr sz="2800" b="1">
                <a:solidFill>
                  <a:srgbClr val="0F172A"/>
                </a:solidFill>
                <a:latin typeface="Aptos"/>
              </a:rPr>
              <a:t>Motivation: Forecasting Streams Do Not Stay Clean</a:t>
            </a:r>
          </a:p>
        </p:txBody>
      </p:sp>
      <p:sp>
        <p:nvSpPr>
          <p:cNvPr id="3" name="TextBox 2"/>
          <p:cNvSpPr txBox="1"/>
          <p:nvPr/>
        </p:nvSpPr>
        <p:spPr>
          <a:xfrm>
            <a:off x="530352" y="749808"/>
            <a:ext cx="10789920" cy="310896"/>
          </a:xfrm>
          <a:prstGeom prst="rect">
            <a:avLst/>
          </a:prstGeom>
          <a:noFill/>
        </p:spPr>
        <p:txBody>
          <a:bodyPr wrap="none" lIns="45720" rIns="45720" tIns="27432" bIns="27432" anchor="ctr">
            <a:spAutoFit/>
          </a:bodyPr>
          <a:lstStyle/>
          <a:p>
            <a:pPr algn="l"/>
            <a:r>
              <a:rPr sz="1400" b="0">
                <a:solidFill>
                  <a:srgbClr val="475569"/>
                </a:solidFill>
                <a:latin typeface="Aptos"/>
              </a:rPr>
              <a:t>Clean train/test splits miss abrupt real-world regime changes.</a:t>
            </a:r>
          </a:p>
        </p:txBody>
      </p:sp>
      <p:cxnSp>
        <p:nvCxnSpPr>
          <p:cNvPr id="4" name="Connector 3"/>
          <p:cNvCxnSpPr/>
          <p:nvPr/>
        </p:nvCxnSpPr>
        <p:spPr>
          <a:xfrm>
            <a:off x="502920" y="1078992"/>
            <a:ext cx="11155680" cy="0"/>
          </a:xfrm>
          <a:prstGeom prst="line">
            <a:avLst/>
          </a:prstGeom>
          <a:ln w="13970">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828800"/>
            <a:ext cx="2194560" cy="777240"/>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2563EB"/>
                </a:solidFill>
                <a:latin typeface="Aptos"/>
              </a:rPr>
              <a:t>Training regime</a:t>
            </a:r>
          </a:p>
        </p:txBody>
      </p:sp>
      <p:cxnSp>
        <p:nvCxnSpPr>
          <p:cNvPr id="6" name="Connector 5"/>
          <p:cNvCxnSpPr/>
          <p:nvPr/>
        </p:nvCxnSpPr>
        <p:spPr>
          <a:xfrm>
            <a:off x="3154680" y="2212848"/>
            <a:ext cx="114300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434840" y="1828800"/>
            <a:ext cx="2194560" cy="77724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0F172A"/>
                </a:solidFill>
                <a:latin typeface="Aptos"/>
              </a:rPr>
              <a:t>Deployed stream</a:t>
            </a:r>
          </a:p>
        </p:txBody>
      </p:sp>
      <p:cxnSp>
        <p:nvCxnSpPr>
          <p:cNvPr id="8" name="Connector 7"/>
          <p:cNvCxnSpPr/>
          <p:nvPr/>
        </p:nvCxnSpPr>
        <p:spPr>
          <a:xfrm>
            <a:off x="6766560" y="2212848"/>
            <a:ext cx="1143000" cy="0"/>
          </a:xfrm>
          <a:prstGeom prst="line">
            <a:avLst/>
          </a:prstGeom>
          <a:ln w="25400">
            <a:solidFill>
              <a:srgbClr val="DC262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828800"/>
            <a:ext cx="2194560" cy="777240"/>
          </a:xfrm>
          <a:prstGeom prst="roundRect">
            <a:avLst/>
          </a:prstGeom>
          <a:solidFill>
            <a:srgbClr val="FEE2E2"/>
          </a:solidFill>
          <a:ln w="1397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DC2626"/>
                </a:solidFill>
                <a:latin typeface="Aptos"/>
              </a:rPr>
              <a:t>Sudden shift</a:t>
            </a:r>
          </a:p>
        </p:txBody>
      </p:sp>
      <p:sp>
        <p:nvSpPr>
          <p:cNvPr id="10" name="TextBox 9"/>
          <p:cNvSpPr txBox="1"/>
          <p:nvPr/>
        </p:nvSpPr>
        <p:spPr>
          <a:xfrm>
            <a:off x="914400" y="3154680"/>
            <a:ext cx="4023360" cy="1828800"/>
          </a:xfrm>
          <a:prstGeom prst="rect">
            <a:avLst/>
          </a:prstGeom>
          <a:noFill/>
        </p:spPr>
        <p:txBody>
          <a:bodyPr wrap="none" lIns="45720" rIns="45720">
            <a:spAutoFit/>
          </a:bodyPr>
          <a:lstStyle/>
          <a:p>
            <a:pPr>
              <a:spcAft>
                <a:spcPts val="800"/>
              </a:spcAft>
              <a:defRPr sz="2500">
                <a:solidFill>
                  <a:srgbClr val="0F172A"/>
                </a:solidFill>
                <a:latin typeface="Aptos"/>
              </a:defRPr>
            </a:pPr>
            <a:r>
              <a:t>Sensor faults</a:t>
            </a:r>
          </a:p>
          <a:p>
            <a:pPr>
              <a:spcAft>
                <a:spcPts val="800"/>
              </a:spcAft>
              <a:defRPr sz="2500">
                <a:solidFill>
                  <a:srgbClr val="0F172A"/>
                </a:solidFill>
                <a:latin typeface="Aptos"/>
              </a:defRPr>
            </a:pPr>
            <a:r>
              <a:t>Weather anomalies</a:t>
            </a:r>
          </a:p>
          <a:p>
            <a:pPr>
              <a:spcAft>
                <a:spcPts val="800"/>
              </a:spcAft>
              <a:defRPr sz="2500">
                <a:solidFill>
                  <a:srgbClr val="0F172A"/>
                </a:solidFill>
                <a:latin typeface="Aptos"/>
              </a:defRPr>
            </a:pPr>
            <a:r>
              <a:t>Demand spikes</a:t>
            </a:r>
          </a:p>
          <a:p>
            <a:pPr>
              <a:spcAft>
                <a:spcPts val="800"/>
              </a:spcAft>
              <a:defRPr sz="2500">
                <a:solidFill>
                  <a:srgbClr val="0F172A"/>
                </a:solidFill>
                <a:latin typeface="Aptos"/>
              </a:defRPr>
            </a:pPr>
            <a:r>
              <a:t>Structural changes</a:t>
            </a:r>
          </a:p>
        </p:txBody>
      </p:sp>
      <p:sp>
        <p:nvSpPr>
          <p:cNvPr id="11" name="Rounded Rectangle 10"/>
          <p:cNvSpPr/>
          <p:nvPr/>
        </p:nvSpPr>
        <p:spPr>
          <a:xfrm>
            <a:off x="5577840" y="3017520"/>
            <a:ext cx="5303520" cy="64008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200" b="1">
                <a:solidFill>
                  <a:srgbClr val="B45309"/>
                </a:solidFill>
                <a:latin typeface="Aptos"/>
              </a:rPr>
              <a:t>Problem</a:t>
            </a:r>
          </a:p>
        </p:txBody>
      </p:sp>
      <p:sp>
        <p:nvSpPr>
          <p:cNvPr id="12" name="TextBox 11"/>
          <p:cNvSpPr txBox="1"/>
          <p:nvPr/>
        </p:nvSpPr>
        <p:spPr>
          <a:xfrm>
            <a:off x="5715000" y="3840480"/>
            <a:ext cx="5029200" cy="914400"/>
          </a:xfrm>
          <a:prstGeom prst="rect">
            <a:avLst/>
          </a:prstGeom>
          <a:noFill/>
        </p:spPr>
        <p:txBody>
          <a:bodyPr wrap="none" lIns="45720" rIns="45720" tIns="27432" bIns="27432" anchor="ctr">
            <a:spAutoFit/>
          </a:bodyPr>
          <a:lstStyle/>
          <a:p>
            <a:pPr algn="ctr"/>
            <a:r>
              <a:rPr sz="2500" b="1">
                <a:solidFill>
                  <a:srgbClr val="0F172A"/>
                </a:solidFill>
                <a:latin typeface="Aptos"/>
              </a:rPr>
              <a:t>A model can look accurate on a clean test split, but fail exactly when the stream enters a new regime.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56032"/>
            <a:ext cx="10881360" cy="438912"/>
          </a:xfrm>
          <a:prstGeom prst="rect">
            <a:avLst/>
          </a:prstGeom>
          <a:noFill/>
        </p:spPr>
        <p:txBody>
          <a:bodyPr wrap="none" lIns="45720" rIns="45720" tIns="27432" bIns="27432" anchor="ctr">
            <a:spAutoFit/>
          </a:bodyPr>
          <a:lstStyle/>
          <a:p>
            <a:pPr algn="l"/>
            <a:r>
              <a:rPr sz="2800" b="1">
                <a:solidFill>
                  <a:srgbClr val="0F172A"/>
                </a:solidFill>
                <a:latin typeface="Aptos"/>
              </a:rPr>
              <a:t>Baseline: COSA Online Output-Space Adaptation</a:t>
            </a:r>
          </a:p>
        </p:txBody>
      </p:sp>
      <p:sp>
        <p:nvSpPr>
          <p:cNvPr id="3" name="TextBox 2"/>
          <p:cNvSpPr txBox="1"/>
          <p:nvPr/>
        </p:nvSpPr>
        <p:spPr>
          <a:xfrm>
            <a:off x="530352" y="749808"/>
            <a:ext cx="10789920" cy="310896"/>
          </a:xfrm>
          <a:prstGeom prst="rect">
            <a:avLst/>
          </a:prstGeom>
          <a:noFill/>
        </p:spPr>
        <p:txBody>
          <a:bodyPr wrap="none" lIns="45720" rIns="45720" tIns="27432" bIns="27432" anchor="ctr">
            <a:spAutoFit/>
          </a:bodyPr>
          <a:lstStyle/>
          <a:p>
            <a:pPr algn="l"/>
            <a:r>
              <a:rPr sz="1400" b="0">
                <a:solidFill>
                  <a:srgbClr val="475569"/>
                </a:solidFill>
                <a:latin typeface="Aptos"/>
              </a:rPr>
              <a:t>Frozen backbone + lightweight adapter optimized during test time.</a:t>
            </a:r>
          </a:p>
        </p:txBody>
      </p:sp>
      <p:cxnSp>
        <p:nvCxnSpPr>
          <p:cNvPr id="4" name="Connector 3"/>
          <p:cNvCxnSpPr/>
          <p:nvPr/>
        </p:nvCxnSpPr>
        <p:spPr>
          <a:xfrm>
            <a:off x="502920" y="1078992"/>
            <a:ext cx="11155680" cy="0"/>
          </a:xfrm>
          <a:prstGeom prst="line">
            <a:avLst/>
          </a:prstGeom>
          <a:ln w="13970">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874519"/>
            <a:ext cx="1508760" cy="731520"/>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2563EB"/>
                </a:solidFill>
                <a:latin typeface="Aptos"/>
              </a:rPr>
              <a:t>Context
Ct</a:t>
            </a:r>
          </a:p>
        </p:txBody>
      </p:sp>
      <p:sp>
        <p:nvSpPr>
          <p:cNvPr id="6" name="Rounded Rectangle 5"/>
          <p:cNvSpPr/>
          <p:nvPr/>
        </p:nvSpPr>
        <p:spPr>
          <a:xfrm>
            <a:off x="822960" y="3154680"/>
            <a:ext cx="1508760" cy="73152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0F172A"/>
                </a:solidFill>
                <a:latin typeface="Aptos"/>
              </a:rPr>
              <a:t>Frozen
DLinear</a:t>
            </a:r>
          </a:p>
        </p:txBody>
      </p:sp>
      <p:sp>
        <p:nvSpPr>
          <p:cNvPr id="7" name="Rounded Rectangle 6"/>
          <p:cNvSpPr/>
          <p:nvPr/>
        </p:nvSpPr>
        <p:spPr>
          <a:xfrm>
            <a:off x="2880360" y="2514600"/>
            <a:ext cx="1645920" cy="73152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0F172A"/>
                </a:solidFill>
                <a:latin typeface="Aptos"/>
              </a:rPr>
              <a:t>Base forecast
Y0</a:t>
            </a:r>
          </a:p>
        </p:txBody>
      </p:sp>
      <p:sp>
        <p:nvSpPr>
          <p:cNvPr id="8" name="Rounded Rectangle 7"/>
          <p:cNvSpPr/>
          <p:nvPr/>
        </p:nvSpPr>
        <p:spPr>
          <a:xfrm>
            <a:off x="5074920" y="2514600"/>
            <a:ext cx="2331720" cy="73152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B45309"/>
                </a:solidFill>
                <a:latin typeface="Aptos"/>
              </a:rPr>
              <a:t>Output adapter
H = W[Y0 || Ct] + b</a:t>
            </a:r>
          </a:p>
        </p:txBody>
      </p:sp>
      <p:sp>
        <p:nvSpPr>
          <p:cNvPr id="9" name="Rounded Rectangle 8"/>
          <p:cNvSpPr/>
          <p:nvPr/>
        </p:nvSpPr>
        <p:spPr>
          <a:xfrm>
            <a:off x="8092440" y="2514600"/>
            <a:ext cx="2834640" cy="73152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16A34A"/>
                </a:solidFill>
                <a:latin typeface="Aptos"/>
              </a:rPr>
              <a:t>Adapted forecast
Y = Y0 + tanh(g)H</a:t>
            </a:r>
          </a:p>
        </p:txBody>
      </p:sp>
      <p:cxnSp>
        <p:nvCxnSpPr>
          <p:cNvPr id="10" name="Connector 9"/>
          <p:cNvCxnSpPr/>
          <p:nvPr/>
        </p:nvCxnSpPr>
        <p:spPr>
          <a:xfrm>
            <a:off x="2331720" y="2240280"/>
            <a:ext cx="548640" cy="50292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331720" y="2926080"/>
            <a:ext cx="548640" cy="59436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526280" y="2880360"/>
            <a:ext cx="5486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06640" y="2880360"/>
            <a:ext cx="68580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51560" y="4663440"/>
            <a:ext cx="1920240" cy="41148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16A34A"/>
                </a:solidFill>
                <a:latin typeface="Aptos"/>
              </a:rPr>
              <a:t>Strength</a:t>
            </a:r>
          </a:p>
        </p:txBody>
      </p:sp>
      <p:sp>
        <p:nvSpPr>
          <p:cNvPr id="15" name="TextBox 14"/>
          <p:cNvSpPr txBox="1"/>
          <p:nvPr/>
        </p:nvSpPr>
        <p:spPr>
          <a:xfrm>
            <a:off x="822960" y="5166360"/>
            <a:ext cx="2743200" cy="548640"/>
          </a:xfrm>
          <a:prstGeom prst="rect">
            <a:avLst/>
          </a:prstGeom>
          <a:noFill/>
        </p:spPr>
        <p:txBody>
          <a:bodyPr wrap="none" lIns="45720" rIns="45720" tIns="27432" bIns="27432" anchor="ctr">
            <a:spAutoFit/>
          </a:bodyPr>
          <a:lstStyle/>
          <a:p>
            <a:pPr algn="ctr"/>
            <a:r>
              <a:rPr sz="2000" b="1">
                <a:solidFill>
                  <a:srgbClr val="0F172A"/>
                </a:solidFill>
                <a:latin typeface="Aptos"/>
              </a:rPr>
              <a:t>Small module; no full model retraining</a:t>
            </a:r>
          </a:p>
        </p:txBody>
      </p:sp>
      <p:sp>
        <p:nvSpPr>
          <p:cNvPr id="16" name="Rounded Rectangle 15"/>
          <p:cNvSpPr/>
          <p:nvPr/>
        </p:nvSpPr>
        <p:spPr>
          <a:xfrm>
            <a:off x="4983480" y="4663440"/>
            <a:ext cx="1920240" cy="411480"/>
          </a:xfrm>
          <a:prstGeom prst="roundRect">
            <a:avLst/>
          </a:prstGeom>
          <a:solidFill>
            <a:srgbClr val="FEE2E2"/>
          </a:solidFill>
          <a:ln w="1397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DC2626"/>
                </a:solidFill>
                <a:latin typeface="Aptos"/>
              </a:rPr>
              <a:t>Cost</a:t>
            </a:r>
          </a:p>
        </p:txBody>
      </p:sp>
      <p:sp>
        <p:nvSpPr>
          <p:cNvPr id="17" name="TextBox 16"/>
          <p:cNvSpPr txBox="1"/>
          <p:nvPr/>
        </p:nvSpPr>
        <p:spPr>
          <a:xfrm>
            <a:off x="4663440" y="5166360"/>
            <a:ext cx="2651760" cy="548640"/>
          </a:xfrm>
          <a:prstGeom prst="rect">
            <a:avLst/>
          </a:prstGeom>
          <a:noFill/>
        </p:spPr>
        <p:txBody>
          <a:bodyPr wrap="none" lIns="45720" rIns="45720" tIns="27432" bIns="27432" anchor="ctr">
            <a:spAutoFit/>
          </a:bodyPr>
          <a:lstStyle/>
          <a:p>
            <a:pPr algn="ctr"/>
            <a:r>
              <a:rPr sz="2000" b="1">
                <a:solidFill>
                  <a:srgbClr val="0F172A"/>
                </a:solidFill>
                <a:latin typeface="Aptos"/>
              </a:rPr>
              <a:t>Still needs online gradient updates</a:t>
            </a:r>
          </a:p>
        </p:txBody>
      </p:sp>
      <p:sp>
        <p:nvSpPr>
          <p:cNvPr id="18" name="Rounded Rectangle 17"/>
          <p:cNvSpPr/>
          <p:nvPr/>
        </p:nvSpPr>
        <p:spPr>
          <a:xfrm>
            <a:off x="8458200" y="4663440"/>
            <a:ext cx="1920240" cy="41148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B45309"/>
                </a:solidFill>
                <a:latin typeface="Aptos"/>
              </a:rPr>
              <a:t>Question</a:t>
            </a:r>
          </a:p>
        </p:txBody>
      </p:sp>
      <p:sp>
        <p:nvSpPr>
          <p:cNvPr id="19" name="TextBox 18"/>
          <p:cNvSpPr txBox="1"/>
          <p:nvPr/>
        </p:nvSpPr>
        <p:spPr>
          <a:xfrm>
            <a:off x="8138160" y="5166360"/>
            <a:ext cx="2651760" cy="548640"/>
          </a:xfrm>
          <a:prstGeom prst="rect">
            <a:avLst/>
          </a:prstGeom>
          <a:noFill/>
        </p:spPr>
        <p:txBody>
          <a:bodyPr wrap="none" lIns="45720" rIns="45720" tIns="27432" bIns="27432" anchor="ctr">
            <a:spAutoFit/>
          </a:bodyPr>
          <a:lstStyle/>
          <a:p>
            <a:pPr algn="ctr"/>
            <a:r>
              <a:rPr sz="2000" b="1">
                <a:solidFill>
                  <a:srgbClr val="0F172A"/>
                </a:solidFill>
                <a:latin typeface="Aptos"/>
              </a:rPr>
              <a:t>What helps under abrupt shifts?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56032"/>
            <a:ext cx="10881360" cy="438912"/>
          </a:xfrm>
          <a:prstGeom prst="rect">
            <a:avLst/>
          </a:prstGeom>
          <a:noFill/>
        </p:spPr>
        <p:txBody>
          <a:bodyPr wrap="none" lIns="45720" rIns="45720" tIns="27432" bIns="27432" anchor="ctr">
            <a:spAutoFit/>
          </a:bodyPr>
          <a:lstStyle/>
          <a:p>
            <a:pPr algn="l"/>
            <a:r>
              <a:rPr sz="2800" b="1">
                <a:solidFill>
                  <a:srgbClr val="0F172A"/>
                </a:solidFill>
                <a:latin typeface="Aptos"/>
              </a:rPr>
              <a:t>Our Two Directions</a:t>
            </a:r>
          </a:p>
        </p:txBody>
      </p:sp>
      <p:sp>
        <p:nvSpPr>
          <p:cNvPr id="3" name="TextBox 2"/>
          <p:cNvSpPr txBox="1"/>
          <p:nvPr/>
        </p:nvSpPr>
        <p:spPr>
          <a:xfrm>
            <a:off x="530352" y="749808"/>
            <a:ext cx="10789920" cy="310896"/>
          </a:xfrm>
          <a:prstGeom prst="rect">
            <a:avLst/>
          </a:prstGeom>
          <a:noFill/>
        </p:spPr>
        <p:txBody>
          <a:bodyPr wrap="none" lIns="45720" rIns="45720" tIns="27432" bIns="27432" anchor="ctr">
            <a:spAutoFit/>
          </a:bodyPr>
          <a:lstStyle/>
          <a:p>
            <a:pPr algn="l"/>
            <a:r>
              <a:rPr sz="1400" b="0">
                <a:solidFill>
                  <a:srgbClr val="475569"/>
                </a:solidFill>
                <a:latin typeface="Aptos"/>
              </a:rPr>
              <a:t>One stays online; one moves adaptation offline.</a:t>
            </a:r>
          </a:p>
        </p:txBody>
      </p:sp>
      <p:cxnSp>
        <p:nvCxnSpPr>
          <p:cNvPr id="4" name="Connector 3"/>
          <p:cNvCxnSpPr/>
          <p:nvPr/>
        </p:nvCxnSpPr>
        <p:spPr>
          <a:xfrm>
            <a:off x="502920" y="1078992"/>
            <a:ext cx="11155680" cy="0"/>
          </a:xfrm>
          <a:prstGeom prst="line">
            <a:avLst/>
          </a:prstGeom>
          <a:ln w="13970">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417320"/>
            <a:ext cx="2103120" cy="59436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400" b="1">
                <a:solidFill>
                  <a:srgbClr val="16A34A"/>
                </a:solidFill>
                <a:latin typeface="Aptos"/>
              </a:rPr>
              <a:t>COSA+</a:t>
            </a:r>
          </a:p>
        </p:txBody>
      </p:sp>
      <p:sp>
        <p:nvSpPr>
          <p:cNvPr id="6" name="Rounded Rectangle 5"/>
          <p:cNvSpPr/>
          <p:nvPr/>
        </p:nvSpPr>
        <p:spPr>
          <a:xfrm>
            <a:off x="6446520" y="1417320"/>
            <a:ext cx="3291840" cy="59436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400" b="1">
                <a:solidFill>
                  <a:srgbClr val="7C3AED"/>
                </a:solidFill>
                <a:latin typeface="Aptos"/>
              </a:rPr>
              <a:t>Dynamic Regime Adapter</a:t>
            </a:r>
          </a:p>
        </p:txBody>
      </p:sp>
      <p:sp>
        <p:nvSpPr>
          <p:cNvPr id="7" name="Rounded Rectangle 6"/>
          <p:cNvSpPr/>
          <p:nvPr/>
        </p:nvSpPr>
        <p:spPr>
          <a:xfrm>
            <a:off x="777240" y="2606040"/>
            <a:ext cx="1737360" cy="68580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0F172A"/>
                </a:solidFill>
                <a:latin typeface="Aptos"/>
              </a:rPr>
              <a:t>Mean + std
context</a:t>
            </a:r>
          </a:p>
        </p:txBody>
      </p:sp>
      <p:sp>
        <p:nvSpPr>
          <p:cNvPr id="8" name="Rounded Rectangle 7"/>
          <p:cNvSpPr/>
          <p:nvPr/>
        </p:nvSpPr>
        <p:spPr>
          <a:xfrm>
            <a:off x="2880360" y="2606040"/>
            <a:ext cx="1737360" cy="68580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0F172A"/>
                </a:solidFill>
                <a:latin typeface="Aptos"/>
              </a:rPr>
              <a:t>Vector gate
g ∈ R^T</a:t>
            </a:r>
          </a:p>
        </p:txBody>
      </p:sp>
      <p:sp>
        <p:nvSpPr>
          <p:cNvPr id="9" name="Rounded Rectangle 8"/>
          <p:cNvSpPr/>
          <p:nvPr/>
        </p:nvSpPr>
        <p:spPr>
          <a:xfrm>
            <a:off x="4983480" y="2606040"/>
            <a:ext cx="1737360" cy="68580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16A34A"/>
                </a:solidFill>
                <a:latin typeface="Aptos"/>
              </a:rPr>
              <a:t>Step-wise
correction</a:t>
            </a:r>
          </a:p>
        </p:txBody>
      </p:sp>
      <p:cxnSp>
        <p:nvCxnSpPr>
          <p:cNvPr id="10" name="Connector 9"/>
          <p:cNvCxnSpPr/>
          <p:nvPr/>
        </p:nvCxnSpPr>
        <p:spPr>
          <a:xfrm>
            <a:off x="2514600" y="2944368"/>
            <a:ext cx="365760" cy="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617720" y="2944368"/>
            <a:ext cx="365760" cy="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0" y="2423160"/>
            <a:ext cx="1371600" cy="566928"/>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2563EB"/>
                </a:solidFill>
                <a:latin typeface="Aptos"/>
              </a:rPr>
              <a:t>Context X</a:t>
            </a:r>
          </a:p>
        </p:txBody>
      </p:sp>
      <p:sp>
        <p:nvSpPr>
          <p:cNvPr id="13" name="Rounded Rectangle 12"/>
          <p:cNvSpPr/>
          <p:nvPr/>
        </p:nvSpPr>
        <p:spPr>
          <a:xfrm>
            <a:off x="8092440" y="2240280"/>
            <a:ext cx="1691640" cy="91440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0F172A"/>
                </a:solidFill>
                <a:latin typeface="Aptos"/>
              </a:rPr>
              <a:t>RegimeEncoder
z</a:t>
            </a:r>
          </a:p>
        </p:txBody>
      </p:sp>
      <p:sp>
        <p:nvSpPr>
          <p:cNvPr id="14" name="Rounded Rectangle 13"/>
          <p:cNvSpPr/>
          <p:nvPr/>
        </p:nvSpPr>
        <p:spPr>
          <a:xfrm>
            <a:off x="10058400" y="2240280"/>
            <a:ext cx="1508760" cy="91440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7C3AED"/>
                </a:solidFill>
                <a:latin typeface="Aptos"/>
              </a:rPr>
              <a:t>GateGenerator
g</a:t>
            </a:r>
          </a:p>
        </p:txBody>
      </p:sp>
      <p:cxnSp>
        <p:nvCxnSpPr>
          <p:cNvPr id="15" name="Connector 14"/>
          <p:cNvCxnSpPr/>
          <p:nvPr/>
        </p:nvCxnSpPr>
        <p:spPr>
          <a:xfrm>
            <a:off x="7772400" y="2697480"/>
            <a:ext cx="32004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84080" y="2697480"/>
            <a:ext cx="27432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60120" y="4160520"/>
            <a:ext cx="4937760" cy="411480"/>
          </a:xfrm>
          <a:prstGeom prst="rect">
            <a:avLst/>
          </a:prstGeom>
          <a:noFill/>
        </p:spPr>
        <p:txBody>
          <a:bodyPr wrap="none" lIns="45720" rIns="45720" tIns="27432" bIns="27432" anchor="ctr">
            <a:spAutoFit/>
          </a:bodyPr>
          <a:lstStyle/>
          <a:p>
            <a:pPr algn="ctr"/>
            <a:r>
              <a:rPr sz="2300" b="1">
                <a:solidFill>
                  <a:srgbClr val="16A34A"/>
                </a:solidFill>
                <a:latin typeface="Aptos"/>
              </a:rPr>
              <a:t>Online: adapts during evaluation</a:t>
            </a:r>
          </a:p>
        </p:txBody>
      </p:sp>
      <p:sp>
        <p:nvSpPr>
          <p:cNvPr id="18" name="TextBox 17"/>
          <p:cNvSpPr txBox="1"/>
          <p:nvPr/>
        </p:nvSpPr>
        <p:spPr>
          <a:xfrm>
            <a:off x="6492240" y="4160520"/>
            <a:ext cx="4846320" cy="411480"/>
          </a:xfrm>
          <a:prstGeom prst="rect">
            <a:avLst/>
          </a:prstGeom>
          <a:noFill/>
        </p:spPr>
        <p:txBody>
          <a:bodyPr wrap="none" lIns="45720" rIns="45720" tIns="27432" bIns="27432" anchor="ctr">
            <a:spAutoFit/>
          </a:bodyPr>
          <a:lstStyle/>
          <a:p>
            <a:pPr algn="ctr"/>
            <a:r>
              <a:rPr sz="2300" b="1">
                <a:solidFill>
                  <a:srgbClr val="7C3AED"/>
                </a:solidFill>
                <a:latin typeface="Aptos"/>
              </a:rPr>
              <a:t>Zero-shot: single forward pass at test time</a:t>
            </a:r>
          </a:p>
        </p:txBody>
      </p:sp>
      <p:sp>
        <p:nvSpPr>
          <p:cNvPr id="19" name="Rounded Rectangle 18"/>
          <p:cNvSpPr/>
          <p:nvPr/>
        </p:nvSpPr>
        <p:spPr>
          <a:xfrm>
            <a:off x="2148840" y="5486400"/>
            <a:ext cx="7863840" cy="59436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400" b="1">
                <a:solidFill>
                  <a:srgbClr val="B45309"/>
                </a:solidFill>
                <a:latin typeface="Aptos"/>
              </a:rPr>
              <a:t>Trade-off axis: robustness behavior vs. inference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56032"/>
            <a:ext cx="10881360" cy="438912"/>
          </a:xfrm>
          <a:prstGeom prst="rect">
            <a:avLst/>
          </a:prstGeom>
          <a:noFill/>
        </p:spPr>
        <p:txBody>
          <a:bodyPr wrap="none" lIns="45720" rIns="45720" tIns="27432" bIns="27432" anchor="ctr">
            <a:spAutoFit/>
          </a:bodyPr>
          <a:lstStyle/>
          <a:p>
            <a:pPr algn="l"/>
            <a:r>
              <a:rPr sz="2800" b="1">
                <a:solidFill>
                  <a:srgbClr val="0F172A"/>
                </a:solidFill>
                <a:latin typeface="Aptos"/>
              </a:rPr>
              <a:t>Core Experimental Design</a:t>
            </a:r>
          </a:p>
        </p:txBody>
      </p:sp>
      <p:sp>
        <p:nvSpPr>
          <p:cNvPr id="3" name="TextBox 2"/>
          <p:cNvSpPr txBox="1"/>
          <p:nvPr/>
        </p:nvSpPr>
        <p:spPr>
          <a:xfrm>
            <a:off x="530352" y="749808"/>
            <a:ext cx="10789920" cy="310896"/>
          </a:xfrm>
          <a:prstGeom prst="rect">
            <a:avLst/>
          </a:prstGeom>
          <a:noFill/>
        </p:spPr>
        <p:txBody>
          <a:bodyPr wrap="none" lIns="45720" rIns="45720" tIns="27432" bIns="27432" anchor="ctr">
            <a:spAutoFit/>
          </a:bodyPr>
          <a:lstStyle/>
          <a:p>
            <a:pPr algn="l"/>
            <a:r>
              <a:rPr sz="1400" b="0">
                <a:solidFill>
                  <a:srgbClr val="475569"/>
                </a:solidFill>
                <a:latin typeface="Aptos"/>
              </a:rPr>
              <a:t>Clean forecasting + black-swan robustness tests.</a:t>
            </a:r>
          </a:p>
        </p:txBody>
      </p:sp>
      <p:cxnSp>
        <p:nvCxnSpPr>
          <p:cNvPr id="4" name="Connector 3"/>
          <p:cNvCxnSpPr/>
          <p:nvPr/>
        </p:nvCxnSpPr>
        <p:spPr>
          <a:xfrm>
            <a:off x="502920" y="1078992"/>
            <a:ext cx="11155680" cy="0"/>
          </a:xfrm>
          <a:prstGeom prst="line">
            <a:avLst/>
          </a:prstGeom>
          <a:ln w="13970">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85800" y="1600200"/>
            <a:ext cx="2194560" cy="914400"/>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2563EB"/>
                </a:solidFill>
                <a:latin typeface="Aptos"/>
              </a:rPr>
              <a:t>Datasets
Weather, ETTh1</a:t>
            </a:r>
          </a:p>
        </p:txBody>
      </p:sp>
      <p:sp>
        <p:nvSpPr>
          <p:cNvPr id="6" name="Rounded Rectangle 5"/>
          <p:cNvSpPr/>
          <p:nvPr/>
        </p:nvSpPr>
        <p:spPr>
          <a:xfrm>
            <a:off x="3337560" y="1600200"/>
            <a:ext cx="2194560" cy="91440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0F172A"/>
                </a:solidFill>
                <a:latin typeface="Aptos"/>
              </a:rPr>
              <a:t>Backbone
Frozen DLinear</a:t>
            </a:r>
          </a:p>
        </p:txBody>
      </p:sp>
      <p:sp>
        <p:nvSpPr>
          <p:cNvPr id="7" name="Rounded Rectangle 6"/>
          <p:cNvSpPr/>
          <p:nvPr/>
        </p:nvSpPr>
        <p:spPr>
          <a:xfrm>
            <a:off x="5989320" y="1600200"/>
            <a:ext cx="2194560" cy="91440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0F172A"/>
                </a:solidFill>
                <a:latin typeface="Aptos"/>
              </a:rPr>
              <a:t>Horizons
96, 720</a:t>
            </a:r>
          </a:p>
        </p:txBody>
      </p:sp>
      <p:sp>
        <p:nvSpPr>
          <p:cNvPr id="8" name="Rounded Rectangle 7"/>
          <p:cNvSpPr/>
          <p:nvPr/>
        </p:nvSpPr>
        <p:spPr>
          <a:xfrm>
            <a:off x="8641080" y="1600200"/>
            <a:ext cx="2194560" cy="91440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16A34A"/>
                </a:solidFill>
                <a:latin typeface="Aptos"/>
              </a:rPr>
              <a:t>Metric
MSE / MAE</a:t>
            </a:r>
          </a:p>
        </p:txBody>
      </p:sp>
      <p:sp>
        <p:nvSpPr>
          <p:cNvPr id="9" name="TextBox 8"/>
          <p:cNvSpPr txBox="1"/>
          <p:nvPr/>
        </p:nvSpPr>
        <p:spPr>
          <a:xfrm>
            <a:off x="777240" y="3063240"/>
            <a:ext cx="3657600" cy="411480"/>
          </a:xfrm>
          <a:prstGeom prst="rect">
            <a:avLst/>
          </a:prstGeom>
          <a:noFill/>
        </p:spPr>
        <p:txBody>
          <a:bodyPr wrap="none" lIns="45720" rIns="45720" tIns="27432" bIns="27432" anchor="ctr">
            <a:spAutoFit/>
          </a:bodyPr>
          <a:lstStyle/>
          <a:p>
            <a:pPr algn="l"/>
            <a:r>
              <a:rPr sz="2400" b="1">
                <a:solidFill>
                  <a:srgbClr val="0F172A"/>
                </a:solidFill>
                <a:latin typeface="Aptos"/>
              </a:rPr>
              <a:t>Black-Swan shift protocol</a:t>
            </a:r>
          </a:p>
        </p:txBody>
      </p:sp>
      <p:sp>
        <p:nvSpPr>
          <p:cNvPr id="10" name="Rounded Rectangle 9"/>
          <p:cNvSpPr/>
          <p:nvPr/>
        </p:nvSpPr>
        <p:spPr>
          <a:xfrm>
            <a:off x="868680" y="3886200"/>
            <a:ext cx="1828800" cy="594360"/>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0F172A"/>
                </a:solidFill>
                <a:latin typeface="Aptos"/>
              </a:rPr>
              <a:t>Original stream</a:t>
            </a:r>
          </a:p>
        </p:txBody>
      </p:sp>
      <p:cxnSp>
        <p:nvCxnSpPr>
          <p:cNvPr id="11" name="Connector 10"/>
          <p:cNvCxnSpPr/>
          <p:nvPr/>
        </p:nvCxnSpPr>
        <p:spPr>
          <a:xfrm>
            <a:off x="2834640" y="4187952"/>
            <a:ext cx="10972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069080" y="3794760"/>
            <a:ext cx="1417320" cy="777240"/>
          </a:xfrm>
          <a:prstGeom prst="roundRect">
            <a:avLst/>
          </a:prstGeom>
          <a:solidFill>
            <a:srgbClr val="FEE2E2"/>
          </a:solidFill>
          <a:ln w="1397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DC2626"/>
                </a:solidFill>
                <a:latin typeface="Aptos"/>
              </a:rPr>
              <a:t>Shift point
Tshift</a:t>
            </a:r>
          </a:p>
        </p:txBody>
      </p:sp>
      <p:cxnSp>
        <p:nvCxnSpPr>
          <p:cNvPr id="13" name="Connector 12"/>
          <p:cNvCxnSpPr/>
          <p:nvPr/>
        </p:nvCxnSpPr>
        <p:spPr>
          <a:xfrm>
            <a:off x="5623560" y="4187952"/>
            <a:ext cx="10972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58000" y="3886200"/>
            <a:ext cx="2103120" cy="59436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B45309"/>
                </a:solidFill>
                <a:latin typeface="Aptos"/>
              </a:rPr>
              <a:t>Shifted stream
x't = S(xt; α)</a:t>
            </a:r>
          </a:p>
        </p:txBody>
      </p:sp>
      <p:sp>
        <p:nvSpPr>
          <p:cNvPr id="15" name="Rounded Rectangle 14"/>
          <p:cNvSpPr/>
          <p:nvPr/>
        </p:nvSpPr>
        <p:spPr>
          <a:xfrm>
            <a:off x="9372600" y="3886200"/>
            <a:ext cx="1828800" cy="59436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800" b="1">
                <a:solidFill>
                  <a:srgbClr val="16A34A"/>
                </a:solidFill>
                <a:latin typeface="Aptos"/>
              </a:rPr>
              <a:t>Evaluate
mse_after_50</a:t>
            </a:r>
          </a:p>
        </p:txBody>
      </p:sp>
      <p:sp>
        <p:nvSpPr>
          <p:cNvPr id="16" name="Rounded Rectangle 15"/>
          <p:cNvSpPr/>
          <p:nvPr/>
        </p:nvSpPr>
        <p:spPr>
          <a:xfrm>
            <a:off x="960120" y="5166360"/>
            <a:ext cx="1600200" cy="45720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7C3AED"/>
                </a:solidFill>
                <a:latin typeface="Aptos"/>
              </a:rPr>
              <a:t>Level</a:t>
            </a:r>
          </a:p>
        </p:txBody>
      </p:sp>
      <p:sp>
        <p:nvSpPr>
          <p:cNvPr id="17" name="Rounded Rectangle 16"/>
          <p:cNvSpPr/>
          <p:nvPr/>
        </p:nvSpPr>
        <p:spPr>
          <a:xfrm>
            <a:off x="3017520" y="5166360"/>
            <a:ext cx="1600200" cy="45720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7C3AED"/>
                </a:solidFill>
                <a:latin typeface="Aptos"/>
              </a:rPr>
              <a:t>Variance</a:t>
            </a:r>
          </a:p>
        </p:txBody>
      </p:sp>
      <p:sp>
        <p:nvSpPr>
          <p:cNvPr id="18" name="Rounded Rectangle 17"/>
          <p:cNvSpPr/>
          <p:nvPr/>
        </p:nvSpPr>
        <p:spPr>
          <a:xfrm>
            <a:off x="5074920" y="5166360"/>
            <a:ext cx="1600200" cy="45720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7C3AED"/>
                </a:solidFill>
                <a:latin typeface="Aptos"/>
              </a:rPr>
              <a:t>Trend</a:t>
            </a:r>
          </a:p>
        </p:txBody>
      </p:sp>
      <p:sp>
        <p:nvSpPr>
          <p:cNvPr id="19" name="Rounded Rectangle 18"/>
          <p:cNvSpPr/>
          <p:nvPr/>
        </p:nvSpPr>
        <p:spPr>
          <a:xfrm>
            <a:off x="7132320" y="5166360"/>
            <a:ext cx="1600200" cy="45720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700" b="1">
                <a:solidFill>
                  <a:srgbClr val="7C3AED"/>
                </a:solidFill>
                <a:latin typeface="Aptos"/>
              </a:rPr>
              <a:t>Spike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56032"/>
            <a:ext cx="10881360" cy="438912"/>
          </a:xfrm>
          <a:prstGeom prst="rect">
            <a:avLst/>
          </a:prstGeom>
          <a:noFill/>
        </p:spPr>
        <p:txBody>
          <a:bodyPr wrap="none" lIns="45720" rIns="45720" tIns="27432" bIns="27432" anchor="ctr">
            <a:spAutoFit/>
          </a:bodyPr>
          <a:lstStyle/>
          <a:p>
            <a:pPr algn="l"/>
            <a:r>
              <a:rPr sz="2800" b="1">
                <a:solidFill>
                  <a:srgbClr val="0F172A"/>
                </a:solidFill>
                <a:latin typeface="Aptos"/>
              </a:rPr>
              <a:t>Main Results</a:t>
            </a:r>
          </a:p>
        </p:txBody>
      </p:sp>
      <p:sp>
        <p:nvSpPr>
          <p:cNvPr id="3" name="TextBox 2"/>
          <p:cNvSpPr txBox="1"/>
          <p:nvPr/>
        </p:nvSpPr>
        <p:spPr>
          <a:xfrm>
            <a:off x="530352" y="749808"/>
            <a:ext cx="10789920" cy="310896"/>
          </a:xfrm>
          <a:prstGeom prst="rect">
            <a:avLst/>
          </a:prstGeom>
          <a:noFill/>
        </p:spPr>
        <p:txBody>
          <a:bodyPr wrap="none" lIns="45720" rIns="45720" tIns="27432" bIns="27432" anchor="ctr">
            <a:spAutoFit/>
          </a:bodyPr>
          <a:lstStyle/>
          <a:p>
            <a:pPr algn="l"/>
            <a:r>
              <a:rPr sz="1400" b="0">
                <a:solidFill>
                  <a:srgbClr val="475569"/>
                </a:solidFill>
                <a:latin typeface="Aptos"/>
              </a:rPr>
              <a:t>Clean-test gains are similar; abrupt-shift behavior differs.</a:t>
            </a:r>
          </a:p>
        </p:txBody>
      </p:sp>
      <p:cxnSp>
        <p:nvCxnSpPr>
          <p:cNvPr id="4" name="Connector 3"/>
          <p:cNvCxnSpPr/>
          <p:nvPr/>
        </p:nvCxnSpPr>
        <p:spPr>
          <a:xfrm>
            <a:off x="502920" y="1078992"/>
            <a:ext cx="11155680" cy="0"/>
          </a:xfrm>
          <a:prstGeom prst="line">
            <a:avLst/>
          </a:prstGeom>
          <a:ln w="13970">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85800" y="1417320"/>
            <a:ext cx="2286000" cy="777240"/>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900" b="1">
                <a:solidFill>
                  <a:srgbClr val="2563EB"/>
                </a:solidFill>
                <a:latin typeface="Aptos"/>
              </a:rPr>
              <a:t>Weather / h=96
Best clean MSE</a:t>
            </a:r>
          </a:p>
        </p:txBody>
      </p:sp>
      <p:sp>
        <p:nvSpPr>
          <p:cNvPr id="6" name="Rounded Rectangle 5"/>
          <p:cNvSpPr/>
          <p:nvPr/>
        </p:nvSpPr>
        <p:spPr>
          <a:xfrm>
            <a:off x="3154680" y="1417320"/>
            <a:ext cx="2240280" cy="77724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900" b="1">
                <a:solidFill>
                  <a:srgbClr val="7C3AED"/>
                </a:solidFill>
                <a:latin typeface="Aptos"/>
              </a:rPr>
              <a:t>Dynamic mixed loss
+2.48% MSE</a:t>
            </a:r>
          </a:p>
        </p:txBody>
      </p:sp>
      <p:sp>
        <p:nvSpPr>
          <p:cNvPr id="7" name="Rounded Rectangle 6"/>
          <p:cNvSpPr/>
          <p:nvPr/>
        </p:nvSpPr>
        <p:spPr>
          <a:xfrm>
            <a:off x="5715000" y="1417320"/>
            <a:ext cx="2286000" cy="777240"/>
          </a:xfrm>
          <a:prstGeom prst="roundRect">
            <a:avLst/>
          </a:prstGeom>
          <a:solidFill>
            <a:srgbClr val="E0F2FE"/>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900" b="1">
                <a:solidFill>
                  <a:srgbClr val="2563EB"/>
                </a:solidFill>
                <a:latin typeface="Aptos"/>
              </a:rPr>
              <a:t>ETTh1 / h=720
Best clean MSE</a:t>
            </a:r>
          </a:p>
        </p:txBody>
      </p:sp>
      <p:sp>
        <p:nvSpPr>
          <p:cNvPr id="8" name="Rounded Rectangle 7"/>
          <p:cNvSpPr/>
          <p:nvPr/>
        </p:nvSpPr>
        <p:spPr>
          <a:xfrm>
            <a:off x="8183879" y="1417320"/>
            <a:ext cx="2240280" cy="77724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900" b="1">
                <a:solidFill>
                  <a:srgbClr val="16A34A"/>
                </a:solidFill>
                <a:latin typeface="Aptos"/>
              </a:rPr>
              <a:t>COSA+
+4.86% MSE</a:t>
            </a:r>
          </a:p>
        </p:txBody>
      </p:sp>
      <p:pic>
        <p:nvPicPr>
          <p:cNvPr id="9" name="Picture 8" descr="figure1_etth1_h720_blackswan_recovery.png"/>
          <p:cNvPicPr>
            <a:picLocks noChangeAspect="1"/>
          </p:cNvPicPr>
          <p:nvPr/>
        </p:nvPicPr>
        <p:blipFill>
          <a:blip r:embed="rId2"/>
          <a:stretch>
            <a:fillRect/>
          </a:stretch>
        </p:blipFill>
        <p:spPr>
          <a:xfrm>
            <a:off x="685800" y="2514600"/>
            <a:ext cx="5440680" cy="3808476"/>
          </a:xfrm>
          <a:prstGeom prst="rect">
            <a:avLst/>
          </a:prstGeom>
        </p:spPr>
      </p:pic>
      <p:sp>
        <p:nvSpPr>
          <p:cNvPr id="10" name="TextBox 9"/>
          <p:cNvSpPr txBox="1"/>
          <p:nvPr/>
        </p:nvSpPr>
        <p:spPr>
          <a:xfrm>
            <a:off x="868680" y="5623560"/>
            <a:ext cx="4937760" cy="228600"/>
          </a:xfrm>
          <a:prstGeom prst="rect">
            <a:avLst/>
          </a:prstGeom>
          <a:noFill/>
        </p:spPr>
        <p:txBody>
          <a:bodyPr wrap="none" lIns="45720" rIns="45720" tIns="27432" bIns="27432" anchor="ctr">
            <a:spAutoFit/>
          </a:bodyPr>
          <a:lstStyle/>
          <a:p>
            <a:pPr algn="ctr"/>
            <a:r>
              <a:rPr sz="1400" b="1">
                <a:solidFill>
                  <a:srgbClr val="475569"/>
                </a:solidFill>
                <a:latin typeface="Aptos"/>
              </a:rPr>
              <a:t>ETTh1 / DLinear / h=720 black-swan recovery</a:t>
            </a:r>
          </a:p>
        </p:txBody>
      </p:sp>
      <p:pic>
        <p:nvPicPr>
          <p:cNvPr id="11" name="Picture 10" descr="figure2_etth1_ablation_bar.png"/>
          <p:cNvPicPr>
            <a:picLocks noChangeAspect="1"/>
          </p:cNvPicPr>
          <p:nvPr/>
        </p:nvPicPr>
        <p:blipFill>
          <a:blip r:embed="rId3"/>
          <a:stretch>
            <a:fillRect/>
          </a:stretch>
        </p:blipFill>
        <p:spPr>
          <a:xfrm>
            <a:off x="6446520" y="2542032"/>
            <a:ext cx="4983480" cy="2491740"/>
          </a:xfrm>
          <a:prstGeom prst="rect">
            <a:avLst/>
          </a:prstGeom>
        </p:spPr>
      </p:pic>
      <p:sp>
        <p:nvSpPr>
          <p:cNvPr id="12" name="TextBox 11"/>
          <p:cNvSpPr txBox="1"/>
          <p:nvPr/>
        </p:nvSpPr>
        <p:spPr>
          <a:xfrm>
            <a:off x="6583680" y="5623560"/>
            <a:ext cx="4663440" cy="228600"/>
          </a:xfrm>
          <a:prstGeom prst="rect">
            <a:avLst/>
          </a:prstGeom>
          <a:noFill/>
        </p:spPr>
        <p:txBody>
          <a:bodyPr wrap="none" lIns="45720" rIns="45720" tIns="27432" bIns="27432" anchor="ctr">
            <a:spAutoFit/>
          </a:bodyPr>
          <a:lstStyle/>
          <a:p>
            <a:pPr algn="ctr"/>
            <a:r>
              <a:rPr sz="1400" b="1">
                <a:solidFill>
                  <a:srgbClr val="475569"/>
                </a:solidFill>
                <a:latin typeface="Aptos"/>
              </a:rPr>
              <a:t>Ablation: vector gate helps most at long horizons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56032"/>
            <a:ext cx="10881360" cy="438912"/>
          </a:xfrm>
          <a:prstGeom prst="rect">
            <a:avLst/>
          </a:prstGeom>
          <a:noFill/>
        </p:spPr>
        <p:txBody>
          <a:bodyPr wrap="none" lIns="45720" rIns="45720" tIns="27432" bIns="27432" anchor="ctr">
            <a:spAutoFit/>
          </a:bodyPr>
          <a:lstStyle/>
          <a:p>
            <a:pPr algn="l"/>
            <a:r>
              <a:rPr sz="2800" b="1">
                <a:solidFill>
                  <a:srgbClr val="0F172A"/>
                </a:solidFill>
                <a:latin typeface="Aptos"/>
              </a:rPr>
              <a:t>Takeaways, Limitations, Future Work</a:t>
            </a:r>
          </a:p>
        </p:txBody>
      </p:sp>
      <p:sp>
        <p:nvSpPr>
          <p:cNvPr id="3" name="TextBox 2"/>
          <p:cNvSpPr txBox="1"/>
          <p:nvPr/>
        </p:nvSpPr>
        <p:spPr>
          <a:xfrm>
            <a:off x="530352" y="749808"/>
            <a:ext cx="10789920" cy="310896"/>
          </a:xfrm>
          <a:prstGeom prst="rect">
            <a:avLst/>
          </a:prstGeom>
          <a:noFill/>
        </p:spPr>
        <p:txBody>
          <a:bodyPr wrap="none" lIns="45720" rIns="45720" tIns="27432" bIns="27432" anchor="ctr">
            <a:spAutoFit/>
          </a:bodyPr>
          <a:lstStyle/>
          <a:p>
            <a:pPr algn="l"/>
            <a:r>
              <a:rPr sz="1400" b="0">
                <a:solidFill>
                  <a:srgbClr val="475569"/>
                </a:solidFill>
                <a:latin typeface="Aptos"/>
              </a:rPr>
              <a:t>The answer is conditional, which is the useful result.</a:t>
            </a:r>
          </a:p>
        </p:txBody>
      </p:sp>
      <p:cxnSp>
        <p:nvCxnSpPr>
          <p:cNvPr id="4" name="Connector 3"/>
          <p:cNvCxnSpPr/>
          <p:nvPr/>
        </p:nvCxnSpPr>
        <p:spPr>
          <a:xfrm>
            <a:off x="502920" y="1078992"/>
            <a:ext cx="11155680" cy="0"/>
          </a:xfrm>
          <a:prstGeom prst="line">
            <a:avLst/>
          </a:prstGeom>
          <a:ln w="13970">
            <a:solidFill>
              <a:srgbClr val="CBD5E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417320"/>
            <a:ext cx="2240280" cy="502920"/>
          </a:xfrm>
          <a:prstGeom prst="roundRect">
            <a:avLst/>
          </a:prstGeom>
          <a:solidFill>
            <a:srgbClr val="DCFCE7"/>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16A34A"/>
                </a:solidFill>
                <a:latin typeface="Aptos"/>
              </a:rPr>
              <a:t>What worked</a:t>
            </a:r>
          </a:p>
        </p:txBody>
      </p:sp>
      <p:sp>
        <p:nvSpPr>
          <p:cNvPr id="6" name="TextBox 5"/>
          <p:cNvSpPr txBox="1"/>
          <p:nvPr/>
        </p:nvSpPr>
        <p:spPr>
          <a:xfrm>
            <a:off x="822960" y="2057400"/>
            <a:ext cx="3657600" cy="1783080"/>
          </a:xfrm>
          <a:prstGeom prst="rect">
            <a:avLst/>
          </a:prstGeom>
          <a:noFill/>
        </p:spPr>
        <p:txBody>
          <a:bodyPr wrap="none" lIns="45720" rIns="45720">
            <a:spAutoFit/>
          </a:bodyPr>
          <a:lstStyle/>
          <a:p>
            <a:pPr>
              <a:spcAft>
                <a:spcPts val="800"/>
              </a:spcAft>
              <a:defRPr sz="2000">
                <a:solidFill>
                  <a:srgbClr val="0F172A"/>
                </a:solidFill>
                <a:latin typeface="Aptos"/>
              </a:defRPr>
            </a:pPr>
            <a:r>
              <a:t>COSA+ improves long-horizon post-shift recovery</a:t>
            </a:r>
          </a:p>
          <a:p>
            <a:pPr>
              <a:spcAft>
                <a:spcPts val="800"/>
              </a:spcAft>
              <a:defRPr sz="2000">
                <a:solidFill>
                  <a:srgbClr val="0F172A"/>
                </a:solidFill>
                <a:latin typeface="Aptos"/>
              </a:defRPr>
            </a:pPr>
            <a:r>
              <a:t>Dynamic adapter gives zero-shot adaptation</a:t>
            </a:r>
          </a:p>
          <a:p>
            <a:pPr>
              <a:spcAft>
                <a:spcPts val="800"/>
              </a:spcAft>
              <a:defRPr sz="2000">
                <a:solidFill>
                  <a:srgbClr val="0F172A"/>
                </a:solidFill>
                <a:latin typeface="Aptos"/>
              </a:defRPr>
            </a:pPr>
            <a:r>
              <a:t>Vector gate explains most COSA+ gains</a:t>
            </a:r>
          </a:p>
        </p:txBody>
      </p:sp>
      <p:sp>
        <p:nvSpPr>
          <p:cNvPr id="7" name="Rounded Rectangle 6"/>
          <p:cNvSpPr/>
          <p:nvPr/>
        </p:nvSpPr>
        <p:spPr>
          <a:xfrm>
            <a:off x="4572000" y="1417320"/>
            <a:ext cx="2240280" cy="502920"/>
          </a:xfrm>
          <a:prstGeom prst="roundRect">
            <a:avLst/>
          </a:prstGeom>
          <a:solidFill>
            <a:srgbClr val="FEE2E2"/>
          </a:solidFill>
          <a:ln w="1397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DC2626"/>
                </a:solidFill>
                <a:latin typeface="Aptos"/>
              </a:rPr>
              <a:t>Limitations</a:t>
            </a:r>
          </a:p>
        </p:txBody>
      </p:sp>
      <p:sp>
        <p:nvSpPr>
          <p:cNvPr id="8" name="TextBox 7"/>
          <p:cNvSpPr txBox="1"/>
          <p:nvPr/>
        </p:nvSpPr>
        <p:spPr>
          <a:xfrm>
            <a:off x="4617720" y="2057400"/>
            <a:ext cx="3520440" cy="2148840"/>
          </a:xfrm>
          <a:prstGeom prst="rect">
            <a:avLst/>
          </a:prstGeom>
          <a:noFill/>
        </p:spPr>
        <p:txBody>
          <a:bodyPr wrap="none" lIns="45720" rIns="45720">
            <a:spAutoFit/>
          </a:bodyPr>
          <a:lstStyle/>
          <a:p>
            <a:pPr>
              <a:spcAft>
                <a:spcPts val="800"/>
              </a:spcAft>
              <a:defRPr sz="2000">
                <a:solidFill>
                  <a:srgbClr val="0F172A"/>
                </a:solidFill>
                <a:latin typeface="Aptos"/>
              </a:defRPr>
            </a:pPr>
            <a:r>
              <a:t>Only Weather and ETTh1</a:t>
            </a:r>
          </a:p>
          <a:p>
            <a:pPr>
              <a:spcAft>
                <a:spcPts val="800"/>
              </a:spcAft>
              <a:defRPr sz="2000">
                <a:solidFill>
                  <a:srgbClr val="0F172A"/>
                </a:solidFill>
                <a:latin typeface="Aptos"/>
              </a:defRPr>
            </a:pPr>
            <a:r>
              <a:t>Black-swan shifts are synthetic</a:t>
            </a:r>
          </a:p>
          <a:p>
            <a:pPr>
              <a:spcAft>
                <a:spcPts val="800"/>
              </a:spcAft>
              <a:defRPr sz="2000">
                <a:solidFill>
                  <a:srgbClr val="0F172A"/>
                </a:solidFill>
                <a:latin typeface="Aptos"/>
              </a:defRPr>
            </a:pPr>
            <a:r>
              <a:t>Weather h=720 shows vector gate can hurt</a:t>
            </a:r>
          </a:p>
          <a:p>
            <a:pPr>
              <a:spcAft>
                <a:spcPts val="800"/>
              </a:spcAft>
              <a:defRPr sz="2000">
                <a:solidFill>
                  <a:srgbClr val="0F172A"/>
                </a:solidFill>
                <a:latin typeface="Aptos"/>
              </a:defRPr>
            </a:pPr>
            <a:r>
              <a:t>Dynamic black-swan test still open</a:t>
            </a:r>
          </a:p>
        </p:txBody>
      </p:sp>
      <p:sp>
        <p:nvSpPr>
          <p:cNvPr id="9" name="Rounded Rectangle 8"/>
          <p:cNvSpPr/>
          <p:nvPr/>
        </p:nvSpPr>
        <p:spPr>
          <a:xfrm>
            <a:off x="8321040" y="1417320"/>
            <a:ext cx="2240280" cy="502920"/>
          </a:xfrm>
          <a:prstGeom prst="roundRect">
            <a:avLst/>
          </a:prstGeom>
          <a:solidFill>
            <a:srgbClr val="FEF3C7"/>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100" b="1">
                <a:solidFill>
                  <a:srgbClr val="B45309"/>
                </a:solidFill>
                <a:latin typeface="Aptos"/>
              </a:rPr>
              <a:t>Next steps</a:t>
            </a:r>
          </a:p>
        </p:txBody>
      </p:sp>
      <p:sp>
        <p:nvSpPr>
          <p:cNvPr id="10" name="TextBox 9"/>
          <p:cNvSpPr txBox="1"/>
          <p:nvPr/>
        </p:nvSpPr>
        <p:spPr>
          <a:xfrm>
            <a:off x="8366760" y="2057400"/>
            <a:ext cx="3154680" cy="1828800"/>
          </a:xfrm>
          <a:prstGeom prst="rect">
            <a:avLst/>
          </a:prstGeom>
          <a:noFill/>
        </p:spPr>
        <p:txBody>
          <a:bodyPr wrap="none" lIns="45720" rIns="45720">
            <a:spAutoFit/>
          </a:bodyPr>
          <a:lstStyle/>
          <a:p>
            <a:pPr>
              <a:spcAft>
                <a:spcPts val="800"/>
              </a:spcAft>
              <a:defRPr sz="2000">
                <a:solidFill>
                  <a:srgbClr val="0F172A"/>
                </a:solidFill>
                <a:latin typeface="Aptos"/>
              </a:defRPr>
            </a:pPr>
            <a:r>
              <a:t>Gate regularization</a:t>
            </a:r>
          </a:p>
          <a:p>
            <a:pPr>
              <a:spcAft>
                <a:spcPts val="800"/>
              </a:spcAft>
              <a:defRPr sz="2000">
                <a:solidFill>
                  <a:srgbClr val="0F172A"/>
                </a:solidFill>
                <a:latin typeface="Aptos"/>
              </a:defRPr>
            </a:pPr>
            <a:r>
              <a:t>Shift detection</a:t>
            </a:r>
          </a:p>
          <a:p>
            <a:pPr>
              <a:spcAft>
                <a:spcPts val="800"/>
              </a:spcAft>
              <a:defRPr sz="2000">
                <a:solidFill>
                  <a:srgbClr val="0F172A"/>
                </a:solidFill>
                <a:latin typeface="Aptos"/>
              </a:defRPr>
            </a:pPr>
            <a:r>
              <a:t>Huber / robust losses</a:t>
            </a:r>
          </a:p>
          <a:p>
            <a:pPr>
              <a:spcAft>
                <a:spcPts val="800"/>
              </a:spcAft>
              <a:defRPr sz="2000">
                <a:solidFill>
                  <a:srgbClr val="0F172A"/>
                </a:solidFill>
                <a:latin typeface="Aptos"/>
              </a:defRPr>
            </a:pPr>
            <a:r>
              <a:t>More datasets and horizons</a:t>
            </a:r>
          </a:p>
        </p:txBody>
      </p:sp>
      <p:sp>
        <p:nvSpPr>
          <p:cNvPr id="11" name="Rounded Rectangle 10"/>
          <p:cNvSpPr/>
          <p:nvPr/>
        </p:nvSpPr>
        <p:spPr>
          <a:xfrm>
            <a:off x="1005840" y="5074920"/>
            <a:ext cx="10058400" cy="822960"/>
          </a:xfrm>
          <a:prstGeom prst="roundRect">
            <a:avLst/>
          </a:prstGeom>
          <a:solidFill>
            <a:srgbClr val="EDE9FE"/>
          </a:solidFill>
          <a:ln w="1397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200" b="1">
                <a:solidFill>
                  <a:srgbClr val="7C3AED"/>
                </a:solidFill>
                <a:latin typeface="Aptos"/>
              </a:rPr>
              <a:t>Final message: COSA+ is stronger online under abrupt long-horizon shifts; Dynamic Regime Adapter is cheaper at inference with no test-time backpropagation.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