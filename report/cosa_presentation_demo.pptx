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1999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94360" y="411480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l"/>
            <a:r>
              <a:rPr lang="en-US" sz="3300" b="1">
                <a:solidFill>
                  <a:srgbClr val="0F172A"/>
                </a:solidFill>
              </a:rPr>
              <a:t>Can COSA Survive Sudden Exchange-Rate Shifts?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21792" y="114300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l"/>
            <a:r>
              <a:rPr lang="en-US" sz="1800">
                <a:solidFill>
                  <a:srgbClr val="475569"/>
                </a:solidFill>
              </a:rPr>
              <a:t>Black-swan robustness test for time-series test-time adaptation</a:t>
            </a:r>
          </a:p>
        </p:txBody>
      </p:sp>
      <p:sp>
        <p:nvSpPr>
          <p:cNvPr id="4" name="Shape 4"/>
          <p:cNvSpPr/>
          <p:nvPr/>
        </p:nvSpPr>
        <p:spPr>
          <a:xfrm>
            <a:off x="685800" y="1874519"/>
            <a:ext cx="32461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914400" y="2084831"/>
            <a:ext cx="2788920" cy="32004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ctr"/>
            <a:r>
              <a:rPr lang="en-US" sz="2000" b="1">
                <a:solidFill>
                  <a:srgbClr val="B91C1C"/>
                </a:solidFill>
              </a:rPr>
              <a:t>Real-world shock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932688" y="2633472"/>
            <a:ext cx="2743200" cy="1051560"/>
          </a:xfrm>
          <a:prstGeom prst="rect">
            <a:avLst/>
          </a:prstGeom>
          <a:noFill/>
          <a:ln>
            <a:noFill/>
          </a:ln>
        </p:spPr>
        <p:txBody>
          <a:bodyPr anchor="mid" wrap="square">
            <a:spAutoFit/>
          </a:bodyPr>
          <a:lstStyle/>
          <a:p>
            <a:pPr algn="ctr"/>
            <a:r>
              <a:rPr lang="en-US" sz="2200" b="1">
                <a:solidFill>
                  <a:srgbClr val="0F172A"/>
                </a:solidFill>
              </a:rPr>
              <a:t>Exchange rates can jump after policy decisions or political events.</a:t>
            </a:r>
          </a:p>
        </p:txBody>
      </p:sp>
      <p:sp>
        <p:nvSpPr>
          <p:cNvPr id="7" name="Shape 7"/>
          <p:cNvSpPr/>
          <p:nvPr/>
        </p:nvSpPr>
        <p:spPr>
          <a:xfrm>
            <a:off x="4343400" y="1874519"/>
            <a:ext cx="33832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8" name="Text 8"/>
          <p:cNvSpPr txBox="1"/>
          <p:nvPr/>
        </p:nvSpPr>
        <p:spPr>
          <a:xfrm>
            <a:off x="4480560" y="1984248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ctr"/>
            <a:r>
              <a:rPr lang="en-US" sz="1500" b="1">
                <a:solidFill>
                  <a:srgbClr val="0F172A"/>
                </a:solidFill>
              </a:rPr>
              <a:t>normal stream</a:t>
            </a:r>
          </a:p>
        </p:txBody>
      </p:sp>
      <p:cxnSp>
        <p:nvCxnSpPr>
          <p:cNvPr id="9" name="Line 9"/>
          <p:cNvCxnSpPr/>
          <p:nvPr/>
        </p:nvCxnSpPr>
        <p:spPr>
          <a:xfrm>
            <a:off x="4572000" y="3840479"/>
            <a:ext cx="2926079" cy="0"/>
          </a:xfrm>
          <a:prstGeom prst="line">
            <a:avLst/>
          </a:prstGeom>
          <a:ln w="14000">
            <a:solidFill>
              <a:srgbClr val="94A3B8"/>
            </a:solidFill>
          </a:ln>
        </p:spPr>
      </p:cxnSp>
      <p:cxnSp>
        <p:nvCxnSpPr>
          <p:cNvPr id="10" name="Line 10"/>
          <p:cNvCxnSpPr/>
          <p:nvPr/>
        </p:nvCxnSpPr>
        <p:spPr>
          <a:xfrm>
            <a:off x="4572000" y="2377439"/>
            <a:ext cx="0" cy="1463039"/>
          </a:xfrm>
          <a:prstGeom prst="line">
            <a:avLst/>
          </a:prstGeom>
          <a:ln w="14000">
            <a:solidFill>
              <a:srgbClr val="94A3B8"/>
            </a:solidFill>
          </a:ln>
        </p:spPr>
      </p:cxnSp>
      <p:cxnSp>
        <p:nvCxnSpPr>
          <p:cNvPr id="11" name="Line 11"/>
          <p:cNvCxnSpPr/>
          <p:nvPr/>
        </p:nvCxnSpPr>
        <p:spPr>
          <a:xfrm>
            <a:off x="6035040" y="2377439"/>
            <a:ext cx="0" cy="1463039"/>
          </a:xfrm>
          <a:prstGeom prst="line">
            <a:avLst/>
          </a:prstGeom>
          <a:ln w="12000">
            <a:solidFill>
              <a:srgbClr val="334155"/>
            </a:solidFill>
            <a:prstDash val="dash"/>
          </a:ln>
        </p:spPr>
      </p:cxnSp>
      <p:cxnSp>
        <p:nvCxnSpPr>
          <p:cNvPr id="12" name="Line 12"/>
          <p:cNvCxnSpPr/>
          <p:nvPr/>
        </p:nvCxnSpPr>
        <p:spPr>
          <a:xfrm flipV="1">
            <a:off x="4572000" y="2908238"/>
            <a:ext cx="195071" cy="142199"/>
          </a:xfrm>
          <a:prstGeom prst="line">
            <a:avLst/>
          </a:prstGeom>
          <a:ln w="22000">
            <a:solidFill>
              <a:srgbClr val="2563EB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4767072" y="2908238"/>
            <a:ext cx="195072" cy="79223"/>
          </a:xfrm>
          <a:prstGeom prst="line">
            <a:avLst/>
          </a:prstGeom>
          <a:ln w="22000">
            <a:solidFill>
              <a:srgbClr val="2563EB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4962144" y="2987462"/>
            <a:ext cx="195072" cy="11970"/>
          </a:xfrm>
          <a:prstGeom prst="line">
            <a:avLst/>
          </a:prstGeom>
          <a:ln w="22000">
            <a:solidFill>
              <a:srgbClr val="2563EB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5157216" y="2999432"/>
            <a:ext cx="195071" cy="52787"/>
          </a:xfrm>
          <a:prstGeom prst="line">
            <a:avLst/>
          </a:prstGeom>
          <a:ln w="22000">
            <a:solidFill>
              <a:srgbClr val="2563EB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5352288" y="3052219"/>
            <a:ext cx="195071" cy="164112"/>
          </a:xfrm>
          <a:prstGeom prst="line">
            <a:avLst/>
          </a:prstGeom>
          <a:ln w="22000">
            <a:solidFill>
              <a:srgbClr val="2563EB"/>
            </a:solidFill>
          </a:ln>
        </p:spPr>
      </p:cxnSp>
      <p:cxnSp>
        <p:nvCxnSpPr>
          <p:cNvPr id="17" name="Line 17"/>
          <p:cNvCxnSpPr/>
          <p:nvPr/>
        </p:nvCxnSpPr>
        <p:spPr>
          <a:xfrm flipV="1">
            <a:off x="5547360" y="3138917"/>
            <a:ext cx="195072" cy="77415"/>
          </a:xfrm>
          <a:prstGeom prst="line">
            <a:avLst/>
          </a:prstGeom>
          <a:ln w="22000">
            <a:solidFill>
              <a:srgbClr val="2563EB"/>
            </a:solidFill>
          </a:ln>
        </p:spPr>
      </p:cxnSp>
      <p:cxnSp>
        <p:nvCxnSpPr>
          <p:cNvPr id="18" name="Line 18"/>
          <p:cNvCxnSpPr/>
          <p:nvPr/>
        </p:nvCxnSpPr>
        <p:spPr>
          <a:xfrm flipV="1">
            <a:off x="5742432" y="2998975"/>
            <a:ext cx="195071" cy="139941"/>
          </a:xfrm>
          <a:prstGeom prst="line">
            <a:avLst/>
          </a:prstGeom>
          <a:ln w="22000">
            <a:solidFill>
              <a:srgbClr val="2563EB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5937504" y="2998975"/>
            <a:ext cx="195072" cy="10510"/>
          </a:xfrm>
          <a:prstGeom prst="line">
            <a:avLst/>
          </a:prstGeom>
          <a:ln w="22000">
            <a:solidFill>
              <a:srgbClr val="2563EB"/>
            </a:solidFill>
          </a:ln>
        </p:spPr>
      </p:cxnSp>
      <p:cxnSp>
        <p:nvCxnSpPr>
          <p:cNvPr id="20" name="Line 20"/>
          <p:cNvCxnSpPr/>
          <p:nvPr/>
        </p:nvCxnSpPr>
        <p:spPr>
          <a:xfrm flipV="1">
            <a:off x="6132576" y="2933968"/>
            <a:ext cx="195071" cy="75518"/>
          </a:xfrm>
          <a:prstGeom prst="line">
            <a:avLst/>
          </a:prstGeom>
          <a:ln w="22000">
            <a:solidFill>
              <a:srgbClr val="2563EB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6327648" y="2933968"/>
            <a:ext cx="195071" cy="19271"/>
          </a:xfrm>
          <a:prstGeom prst="line">
            <a:avLst/>
          </a:prstGeom>
          <a:ln w="22000">
            <a:solidFill>
              <a:srgbClr val="2563EB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6522720" y="2953240"/>
            <a:ext cx="195072" cy="203137"/>
          </a:xfrm>
          <a:prstGeom prst="line">
            <a:avLst/>
          </a:prstGeom>
          <a:ln w="22000">
            <a:solidFill>
              <a:srgbClr val="2563EB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6717792" y="3156377"/>
            <a:ext cx="195072" cy="4939"/>
          </a:xfrm>
          <a:prstGeom prst="line">
            <a:avLst/>
          </a:prstGeom>
          <a:ln w="22000">
            <a:solidFill>
              <a:srgbClr val="2563EB"/>
            </a:solidFill>
          </a:ln>
        </p:spPr>
      </p:cxnSp>
      <p:cxnSp>
        <p:nvCxnSpPr>
          <p:cNvPr id="24" name="Line 24"/>
          <p:cNvCxnSpPr/>
          <p:nvPr/>
        </p:nvCxnSpPr>
        <p:spPr>
          <a:xfrm flipV="1">
            <a:off x="6912864" y="3091206"/>
            <a:ext cx="195071" cy="70110"/>
          </a:xfrm>
          <a:prstGeom prst="line">
            <a:avLst/>
          </a:prstGeom>
          <a:ln w="22000">
            <a:solidFill>
              <a:srgbClr val="2563EB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7107936" y="3091206"/>
            <a:ext cx="195071" cy="8115"/>
          </a:xfrm>
          <a:prstGeom prst="line">
            <a:avLst/>
          </a:prstGeom>
          <a:ln w="22000">
            <a:solidFill>
              <a:srgbClr val="2563EB"/>
            </a:solidFill>
          </a:ln>
        </p:spPr>
      </p:cxnSp>
      <p:cxnSp>
        <p:nvCxnSpPr>
          <p:cNvPr id="26" name="Line 26"/>
          <p:cNvCxnSpPr/>
          <p:nvPr/>
        </p:nvCxnSpPr>
        <p:spPr>
          <a:xfrm flipV="1">
            <a:off x="7303008" y="2951446"/>
            <a:ext cx="195071" cy="147875"/>
          </a:xfrm>
          <a:prstGeom prst="line">
            <a:avLst/>
          </a:prstGeom>
          <a:ln w="22000">
            <a:solidFill>
              <a:srgbClr val="2563EB"/>
            </a:solidFill>
          </a:ln>
        </p:spPr>
      </p:cxnSp>
      <p:sp>
        <p:nvSpPr>
          <p:cNvPr id="27" name="Shape 27"/>
          <p:cNvSpPr/>
          <p:nvPr/>
        </p:nvSpPr>
        <p:spPr>
          <a:xfrm>
            <a:off x="8001000" y="1874519"/>
            <a:ext cx="33832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28" name="Text 28"/>
          <p:cNvSpPr txBox="1"/>
          <p:nvPr/>
        </p:nvSpPr>
        <p:spPr>
          <a:xfrm>
            <a:off x="8138160" y="1984248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ctr"/>
            <a:r>
              <a:rPr lang="en-US" sz="1500" b="1">
                <a:solidFill>
                  <a:srgbClr val="0F172A"/>
                </a:solidFill>
              </a:rPr>
              <a:t>abrupt shift</a:t>
            </a:r>
          </a:p>
        </p:txBody>
      </p:sp>
      <p:cxnSp>
        <p:nvCxnSpPr>
          <p:cNvPr id="29" name="Line 29"/>
          <p:cNvCxnSpPr/>
          <p:nvPr/>
        </p:nvCxnSpPr>
        <p:spPr>
          <a:xfrm>
            <a:off x="8229600" y="3840479"/>
            <a:ext cx="2926079" cy="0"/>
          </a:xfrm>
          <a:prstGeom prst="line">
            <a:avLst/>
          </a:prstGeom>
          <a:ln w="14000">
            <a:solidFill>
              <a:srgbClr val="94A3B8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8229600" y="2377439"/>
            <a:ext cx="0" cy="1463039"/>
          </a:xfrm>
          <a:prstGeom prst="line">
            <a:avLst/>
          </a:prstGeom>
          <a:ln w="14000">
            <a:solidFill>
              <a:srgbClr val="94A3B8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9692640" y="2377439"/>
            <a:ext cx="0" cy="1463039"/>
          </a:xfrm>
          <a:prstGeom prst="line">
            <a:avLst/>
          </a:prstGeom>
          <a:ln w="12000">
            <a:solidFill>
              <a:srgbClr val="334155"/>
            </a:solidFill>
            <a:prstDash val="dash"/>
          </a:ln>
        </p:spPr>
      </p:cxnSp>
      <p:cxnSp>
        <p:nvCxnSpPr>
          <p:cNvPr id="32" name="Line 32"/>
          <p:cNvCxnSpPr/>
          <p:nvPr/>
        </p:nvCxnSpPr>
        <p:spPr>
          <a:xfrm flipV="1">
            <a:off x="8229600" y="2908238"/>
            <a:ext cx="195071" cy="142199"/>
          </a:xfrm>
          <a:prstGeom prst="line">
            <a:avLst/>
          </a:prstGeom>
          <a:ln w="22000">
            <a:solidFill>
              <a:srgbClr val="DC2626"/>
            </a:solidFill>
          </a:ln>
        </p:spPr>
      </p:cxnSp>
      <p:cxnSp>
        <p:nvCxnSpPr>
          <p:cNvPr id="33" name="Line 33"/>
          <p:cNvCxnSpPr/>
          <p:nvPr/>
        </p:nvCxnSpPr>
        <p:spPr>
          <a:xfrm>
            <a:off x="8424672" y="2908238"/>
            <a:ext cx="195071" cy="79223"/>
          </a:xfrm>
          <a:prstGeom prst="line">
            <a:avLst/>
          </a:prstGeom>
          <a:ln w="22000">
            <a:solidFill>
              <a:srgbClr val="DC2626"/>
            </a:solidFill>
          </a:ln>
        </p:spPr>
      </p:cxnSp>
      <p:cxnSp>
        <p:nvCxnSpPr>
          <p:cNvPr id="34" name="Line 34"/>
          <p:cNvCxnSpPr/>
          <p:nvPr/>
        </p:nvCxnSpPr>
        <p:spPr>
          <a:xfrm>
            <a:off x="8619744" y="2987462"/>
            <a:ext cx="195072" cy="11970"/>
          </a:xfrm>
          <a:prstGeom prst="line">
            <a:avLst/>
          </a:prstGeom>
          <a:ln w="22000">
            <a:solidFill>
              <a:srgbClr val="DC2626"/>
            </a:solidFill>
          </a:ln>
        </p:spPr>
      </p:cxnSp>
      <p:cxnSp>
        <p:nvCxnSpPr>
          <p:cNvPr id="35" name="Line 35"/>
          <p:cNvCxnSpPr/>
          <p:nvPr/>
        </p:nvCxnSpPr>
        <p:spPr>
          <a:xfrm>
            <a:off x="8814816" y="2999432"/>
            <a:ext cx="195071" cy="52787"/>
          </a:xfrm>
          <a:prstGeom prst="line">
            <a:avLst/>
          </a:prstGeom>
          <a:ln w="22000">
            <a:solidFill>
              <a:srgbClr val="DC2626"/>
            </a:solidFill>
          </a:ln>
        </p:spPr>
      </p:cxnSp>
      <p:cxnSp>
        <p:nvCxnSpPr>
          <p:cNvPr id="36" name="Line 36"/>
          <p:cNvCxnSpPr/>
          <p:nvPr/>
        </p:nvCxnSpPr>
        <p:spPr>
          <a:xfrm>
            <a:off x="9009888" y="3052219"/>
            <a:ext cx="195071" cy="164112"/>
          </a:xfrm>
          <a:prstGeom prst="line">
            <a:avLst/>
          </a:prstGeom>
          <a:ln w="22000">
            <a:solidFill>
              <a:srgbClr val="DC2626"/>
            </a:solidFill>
          </a:ln>
        </p:spPr>
      </p:cxnSp>
      <p:cxnSp>
        <p:nvCxnSpPr>
          <p:cNvPr id="37" name="Line 37"/>
          <p:cNvCxnSpPr/>
          <p:nvPr/>
        </p:nvCxnSpPr>
        <p:spPr>
          <a:xfrm flipV="1">
            <a:off x="9204960" y="3138917"/>
            <a:ext cx="195072" cy="77415"/>
          </a:xfrm>
          <a:prstGeom prst="line">
            <a:avLst/>
          </a:prstGeom>
          <a:ln w="22000">
            <a:solidFill>
              <a:srgbClr val="DC2626"/>
            </a:solidFill>
          </a:ln>
        </p:spPr>
      </p:cxnSp>
      <p:cxnSp>
        <p:nvCxnSpPr>
          <p:cNvPr id="38" name="Line 38"/>
          <p:cNvCxnSpPr/>
          <p:nvPr/>
        </p:nvCxnSpPr>
        <p:spPr>
          <a:xfrm flipV="1">
            <a:off x="9400032" y="2998975"/>
            <a:ext cx="195071" cy="139941"/>
          </a:xfrm>
          <a:prstGeom prst="line">
            <a:avLst/>
          </a:prstGeom>
          <a:ln w="22000">
            <a:solidFill>
              <a:srgbClr val="DC2626"/>
            </a:solidFill>
          </a:ln>
        </p:spPr>
      </p:cxnSp>
      <p:cxnSp>
        <p:nvCxnSpPr>
          <p:cNvPr id="39" name="Line 39"/>
          <p:cNvCxnSpPr/>
          <p:nvPr/>
        </p:nvCxnSpPr>
        <p:spPr>
          <a:xfrm flipV="1">
            <a:off x="9595104" y="2497422"/>
            <a:ext cx="195071" cy="501553"/>
          </a:xfrm>
          <a:prstGeom prst="line">
            <a:avLst/>
          </a:prstGeom>
          <a:ln w="22000">
            <a:solidFill>
              <a:srgbClr val="DC2626"/>
            </a:solidFill>
          </a:ln>
        </p:spPr>
      </p:cxnSp>
      <p:cxnSp>
        <p:nvCxnSpPr>
          <p:cNvPr id="40" name="Line 40"/>
          <p:cNvCxnSpPr/>
          <p:nvPr/>
        </p:nvCxnSpPr>
        <p:spPr>
          <a:xfrm flipV="1">
            <a:off x="9790176" y="2450591"/>
            <a:ext cx="195071" cy="46830"/>
          </a:xfrm>
          <a:prstGeom prst="line">
            <a:avLst/>
          </a:prstGeom>
          <a:ln w="22000">
            <a:solidFill>
              <a:srgbClr val="DC2626"/>
            </a:solidFill>
          </a:ln>
        </p:spPr>
      </p:cxnSp>
      <p:cxnSp>
        <p:nvCxnSpPr>
          <p:cNvPr id="41" name="Line 41"/>
          <p:cNvCxnSpPr/>
          <p:nvPr/>
        </p:nvCxnSpPr>
        <p:spPr>
          <a:xfrm>
            <a:off x="9985248" y="2450591"/>
            <a:ext cx="195071" cy="0"/>
          </a:xfrm>
          <a:prstGeom prst="line">
            <a:avLst/>
          </a:prstGeom>
          <a:ln w="22000">
            <a:solidFill>
              <a:srgbClr val="DC2626"/>
            </a:solidFill>
          </a:ln>
        </p:spPr>
      </p:cxnSp>
      <p:cxnSp>
        <p:nvCxnSpPr>
          <p:cNvPr id="42" name="Line 42"/>
          <p:cNvCxnSpPr/>
          <p:nvPr/>
        </p:nvCxnSpPr>
        <p:spPr>
          <a:xfrm>
            <a:off x="10180320" y="2450591"/>
            <a:ext cx="195072" cy="193721"/>
          </a:xfrm>
          <a:prstGeom prst="line">
            <a:avLst/>
          </a:prstGeom>
          <a:ln w="22000">
            <a:solidFill>
              <a:srgbClr val="DC2626"/>
            </a:solidFill>
          </a:ln>
        </p:spPr>
      </p:cxnSp>
      <p:cxnSp>
        <p:nvCxnSpPr>
          <p:cNvPr id="43" name="Line 43"/>
          <p:cNvCxnSpPr/>
          <p:nvPr/>
        </p:nvCxnSpPr>
        <p:spPr>
          <a:xfrm>
            <a:off x="10375392" y="2644313"/>
            <a:ext cx="195071" cy="4939"/>
          </a:xfrm>
          <a:prstGeom prst="line">
            <a:avLst/>
          </a:prstGeom>
          <a:ln w="22000">
            <a:solidFill>
              <a:srgbClr val="DC2626"/>
            </a:solidFill>
          </a:ln>
        </p:spPr>
      </p:cxnSp>
      <p:cxnSp>
        <p:nvCxnSpPr>
          <p:cNvPr id="44" name="Line 44"/>
          <p:cNvCxnSpPr/>
          <p:nvPr/>
        </p:nvCxnSpPr>
        <p:spPr>
          <a:xfrm flipV="1">
            <a:off x="10570464" y="2579142"/>
            <a:ext cx="195071" cy="70110"/>
          </a:xfrm>
          <a:prstGeom prst="line">
            <a:avLst/>
          </a:prstGeom>
          <a:ln w="22000">
            <a:solidFill>
              <a:srgbClr val="DC2626"/>
            </a:solidFill>
          </a:ln>
        </p:spPr>
      </p:cxnSp>
      <p:cxnSp>
        <p:nvCxnSpPr>
          <p:cNvPr id="45" name="Line 45"/>
          <p:cNvCxnSpPr/>
          <p:nvPr/>
        </p:nvCxnSpPr>
        <p:spPr>
          <a:xfrm>
            <a:off x="10765536" y="2579142"/>
            <a:ext cx="195071" cy="8115"/>
          </a:xfrm>
          <a:prstGeom prst="line">
            <a:avLst/>
          </a:prstGeom>
          <a:ln w="22000">
            <a:solidFill>
              <a:srgbClr val="DC2626"/>
            </a:solidFill>
          </a:ln>
        </p:spPr>
      </p:cxnSp>
      <p:cxnSp>
        <p:nvCxnSpPr>
          <p:cNvPr id="46" name="Line 46"/>
          <p:cNvCxnSpPr/>
          <p:nvPr/>
        </p:nvCxnSpPr>
        <p:spPr>
          <a:xfrm flipV="1">
            <a:off x="10960608" y="2450591"/>
            <a:ext cx="195071" cy="136665"/>
          </a:xfrm>
          <a:prstGeom prst="line">
            <a:avLst/>
          </a:prstGeom>
          <a:ln w="22000">
            <a:solidFill>
              <a:srgbClr val="DC2626"/>
            </a:solidFill>
          </a:ln>
        </p:spPr>
      </p:cxnSp>
      <p:sp>
        <p:nvSpPr>
          <p:cNvPr id="47" name="Shape 47"/>
          <p:cNvSpPr/>
          <p:nvPr/>
        </p:nvSpPr>
        <p:spPr>
          <a:xfrm>
            <a:off x="914400" y="4709160"/>
            <a:ext cx="10241280" cy="9144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48" name="Text 48"/>
          <p:cNvSpPr txBox="1"/>
          <p:nvPr/>
        </p:nvSpPr>
        <p:spPr>
          <a:xfrm>
            <a:off x="1234440" y="4919472"/>
            <a:ext cx="9601200" cy="41148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ctr"/>
            <a:r>
              <a:rPr lang="en-US" sz="2300" b="1">
                <a:solidFill>
                  <a:srgbClr val="0C4A6E"/>
                </a:solidFill>
              </a:rPr>
              <a:t>Research question: does COSA remain effective when the test stream suddenly changes?</a:t>
            </a:r>
          </a:p>
        </p:txBody>
      </p:sp>
      <p:sp>
        <p:nvSpPr>
          <p:cNvPr id="49" name="Text 49"/>
          <p:cNvSpPr txBox="1"/>
          <p:nvPr/>
        </p:nvSpPr>
        <p:spPr>
          <a:xfrm>
            <a:off x="713232" y="6199632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l"/>
            <a:r>
              <a:rPr lang="en-US" sz="1200">
                <a:solidFill>
                  <a:srgbClr val="64748B"/>
                </a:solidFill>
              </a:rPr>
              <a:t>5-minute group presentation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56032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l"/>
            <a:r>
              <a:rPr lang="en-US" sz="3200" b="1">
                <a:solidFill>
                  <a:srgbClr val="0F172A"/>
                </a:solidFill>
              </a:rPr>
              <a:t>What Is COSA?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30352" y="804672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l"/>
            <a:r>
              <a:rPr lang="en-US" sz="1500">
                <a:solidFill>
                  <a:srgbClr val="475569"/>
                </a:solidFill>
              </a:rPr>
              <a:t>A lightweight test-time adaptation method for forecasting</a:t>
            </a:r>
          </a:p>
        </p:txBody>
      </p:sp>
      <p:cxnSp>
        <p:nvCxnSpPr>
          <p:cNvPr id="4" name="Line 4"/>
          <p:cNvCxnSpPr/>
          <p:nvPr/>
        </p:nvCxnSpPr>
        <p:spPr>
          <a:xfrm>
            <a:off x="502920" y="1115568"/>
            <a:ext cx="11155680" cy="0"/>
          </a:xfrm>
          <a:prstGeom prst="line">
            <a:avLst/>
          </a:prstGeom>
          <a:ln w="11000">
            <a:solidFill>
              <a:srgbClr val="CBD5E1"/>
            </a:solidFill>
          </a:ln>
        </p:spPr>
      </p:cxnSp>
      <p:sp>
        <p:nvSpPr>
          <p:cNvPr id="5" name="Shape 5"/>
          <p:cNvSpPr/>
          <p:nvPr/>
        </p:nvSpPr>
        <p:spPr>
          <a:xfrm>
            <a:off x="731520" y="1965960"/>
            <a:ext cx="1920240" cy="10515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868680" y="2267712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="mid" wrap="square">
            <a:spAutoFit/>
          </a:bodyPr>
          <a:lstStyle/>
          <a:p>
            <a:pPr algn="ctr"/>
            <a:r>
              <a:rPr lang="en-US" sz="2000" b="1">
                <a:solidFill>
                  <a:srgbClr val="1D4ED8"/>
                </a:solidFill>
              </a:rPr>
              <a:t>Historical input</a:t>
            </a:r>
          </a:p>
        </p:txBody>
      </p:sp>
      <p:cxnSp>
        <p:nvCxnSpPr>
          <p:cNvPr id="7" name="Line 7"/>
          <p:cNvCxnSpPr/>
          <p:nvPr/>
        </p:nvCxnSpPr>
        <p:spPr>
          <a:xfrm>
            <a:off x="2651760" y="2487168"/>
            <a:ext cx="502919" cy="0"/>
          </a:xfrm>
          <a:prstGeom prst="line">
            <a:avLst/>
          </a:prstGeom>
          <a:ln w="22000">
            <a:solidFill>
              <a:srgbClr val="64748B"/>
            </a:solidFill>
          </a:ln>
        </p:spPr>
      </p:cxnSp>
      <p:sp>
        <p:nvSpPr>
          <p:cNvPr id="8" name="Shape 8"/>
          <p:cNvSpPr/>
          <p:nvPr/>
        </p:nvSpPr>
        <p:spPr>
          <a:xfrm>
            <a:off x="3291840" y="1965960"/>
            <a:ext cx="1920240" cy="1051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3429000" y="2267712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="mid" wrap="square">
            <a:spAutoFit/>
          </a:bodyPr>
          <a:lstStyle/>
          <a:p>
            <a:pPr algn="ctr"/>
            <a:r>
              <a:rPr lang="en-US" sz="2000" b="1">
                <a:solidFill>
                  <a:srgbClr val="334155"/>
                </a:solidFill>
              </a:rPr>
              <a:t>Base forecaster</a:t>
            </a:r>
          </a:p>
        </p:txBody>
      </p:sp>
      <p:cxnSp>
        <p:nvCxnSpPr>
          <p:cNvPr id="10" name="Line 10"/>
          <p:cNvCxnSpPr/>
          <p:nvPr/>
        </p:nvCxnSpPr>
        <p:spPr>
          <a:xfrm>
            <a:off x="5212080" y="2487168"/>
            <a:ext cx="548639" cy="0"/>
          </a:xfrm>
          <a:prstGeom prst="line">
            <a:avLst/>
          </a:prstGeom>
          <a:ln w="22000">
            <a:solidFill>
              <a:srgbClr val="64748B"/>
            </a:solidFill>
          </a:ln>
        </p:spPr>
      </p:cxnSp>
      <p:sp>
        <p:nvSpPr>
          <p:cNvPr id="11" name="Shape 11"/>
          <p:cNvSpPr/>
          <p:nvPr/>
        </p:nvSpPr>
        <p:spPr>
          <a:xfrm>
            <a:off x="5897880" y="1965960"/>
            <a:ext cx="1920240" cy="10515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45309"/>
            </a:solidFill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6035040" y="2267712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="mid" wrap="square">
            <a:spAutoFit/>
          </a:bodyPr>
          <a:lstStyle/>
          <a:p>
            <a:pPr algn="ctr"/>
            <a:r>
              <a:rPr lang="en-US" sz="2000" b="1">
                <a:solidFill>
                  <a:srgbClr val="B45309"/>
                </a:solidFill>
              </a:rPr>
              <a:t>COSA adapter</a:t>
            </a:r>
          </a:p>
        </p:txBody>
      </p:sp>
      <p:cxnSp>
        <p:nvCxnSpPr>
          <p:cNvPr id="13" name="Line 13"/>
          <p:cNvCxnSpPr/>
          <p:nvPr/>
        </p:nvCxnSpPr>
        <p:spPr>
          <a:xfrm>
            <a:off x="7818120" y="2487168"/>
            <a:ext cx="594359" cy="0"/>
          </a:xfrm>
          <a:prstGeom prst="line">
            <a:avLst/>
          </a:prstGeom>
          <a:ln w="22000">
            <a:solidFill>
              <a:srgbClr val="64748B"/>
            </a:solidFill>
          </a:ln>
        </p:spPr>
      </p:cxnSp>
      <p:sp>
        <p:nvSpPr>
          <p:cNvPr id="14" name="Shape 14"/>
          <p:cNvSpPr/>
          <p:nvPr/>
        </p:nvSpPr>
        <p:spPr>
          <a:xfrm>
            <a:off x="8549640" y="1965960"/>
            <a:ext cx="1920240" cy="105156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8686800" y="2267712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="mid" wrap="square">
            <a:spAutoFit/>
          </a:bodyPr>
          <a:lstStyle/>
          <a:p>
            <a:pPr algn="ctr"/>
            <a:r>
              <a:rPr lang="en-US" sz="2000" b="1">
                <a:solidFill>
                  <a:srgbClr val="15803D"/>
                </a:solidFill>
              </a:rPr>
              <a:t>Adapted forecast</a:t>
            </a:r>
          </a:p>
        </p:txBody>
      </p:sp>
      <p:sp>
        <p:nvSpPr>
          <p:cNvPr id="16" name="Shape 16"/>
          <p:cNvSpPr/>
          <p:nvPr/>
        </p:nvSpPr>
        <p:spPr>
          <a:xfrm>
            <a:off x="868680" y="3977639"/>
            <a:ext cx="47548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1143000" y="4224528"/>
            <a:ext cx="4206240" cy="594360"/>
          </a:xfrm>
          <a:prstGeom prst="rect">
            <a:avLst/>
          </a:prstGeom>
          <a:noFill/>
          <a:ln>
            <a:noFill/>
          </a:ln>
        </p:spPr>
        <p:txBody>
          <a:bodyPr anchor="mid" wrap="square">
            <a:spAutoFit/>
          </a:bodyPr>
          <a:lstStyle/>
          <a:p>
            <a:pPr algn="ctr"/>
            <a:r>
              <a:rPr lang="en-US" sz="2200" b="1">
                <a:solidFill>
                  <a:srgbClr val="334155"/>
                </a:solidFill>
              </a:rPr>
              <a:t>Baseline: fixed model, no test-time adaptation</a:t>
            </a:r>
          </a:p>
        </p:txBody>
      </p:sp>
      <p:sp>
        <p:nvSpPr>
          <p:cNvPr id="18" name="Shape 18"/>
          <p:cNvSpPr/>
          <p:nvPr/>
        </p:nvSpPr>
        <p:spPr>
          <a:xfrm>
            <a:off x="6446520" y="3977639"/>
            <a:ext cx="4754880" cy="123444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txBody>
          <a:bodyPr/>
          <a:lstStyle/>
          <a:p/>
        </p:txBody>
      </p:sp>
      <p:sp>
        <p:nvSpPr>
          <p:cNvPr id="19" name="Text 19"/>
          <p:cNvSpPr txBox="1"/>
          <p:nvPr/>
        </p:nvSpPr>
        <p:spPr>
          <a:xfrm>
            <a:off x="6720840" y="4224528"/>
            <a:ext cx="4206240" cy="594360"/>
          </a:xfrm>
          <a:prstGeom prst="rect">
            <a:avLst/>
          </a:prstGeom>
          <a:noFill/>
          <a:ln>
            <a:noFill/>
          </a:ln>
        </p:spPr>
        <p:txBody>
          <a:bodyPr anchor="mid" wrap="square">
            <a:spAutoFit/>
          </a:bodyPr>
          <a:lstStyle/>
          <a:p>
            <a:pPr algn="ctr"/>
            <a:r>
              <a:rPr lang="en-US" sz="2200" b="1">
                <a:solidFill>
                  <a:srgbClr val="9A3412"/>
                </a:solidFill>
              </a:rPr>
              <a:t>COSA: uses recent test context to adjust outputs</a:t>
            </a:r>
          </a:p>
        </p:txBody>
      </p:sp>
      <p:sp>
        <p:nvSpPr>
          <p:cNvPr id="20" name="Shape 20"/>
          <p:cNvSpPr/>
          <p:nvPr/>
        </p:nvSpPr>
        <p:spPr>
          <a:xfrm>
            <a:off x="4480560" y="5715000"/>
            <a:ext cx="324612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4526280" y="5779008"/>
            <a:ext cx="3154679" cy="411480"/>
          </a:xfrm>
          <a:prstGeom prst="rect">
            <a:avLst/>
          </a:prstGeom>
          <a:noFill/>
          <a:ln>
            <a:noFill/>
          </a:ln>
        </p:spPr>
        <p:txBody>
          <a:bodyPr anchor="mid" wrap="square">
            <a:spAutoFit/>
          </a:bodyPr>
          <a:lstStyle/>
          <a:p>
            <a:pPr algn="ctr"/>
            <a:r>
              <a:rPr lang="en-US" sz="1800" b="1">
                <a:solidFill>
                  <a:srgbClr val="FFFFFF"/>
                </a:solidFill>
              </a:rPr>
              <a:t>Key idea: adapt at test 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56032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l"/>
            <a:r>
              <a:rPr lang="en-US" sz="3200" b="1">
                <a:solidFill>
                  <a:srgbClr val="0F172A"/>
                </a:solidFill>
              </a:rPr>
              <a:t>Black-Swan Dataset Construction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30352" y="804672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l"/>
            <a:r>
              <a:rPr lang="en-US" sz="1500">
                <a:solidFill>
                  <a:srgbClr val="475569"/>
                </a:solidFill>
              </a:rPr>
              <a:t>Exchange Rate test stream with synthetic abrupt level shocks</a:t>
            </a:r>
          </a:p>
        </p:txBody>
      </p:sp>
      <p:cxnSp>
        <p:nvCxnSpPr>
          <p:cNvPr id="4" name="Line 4"/>
          <p:cNvCxnSpPr/>
          <p:nvPr/>
        </p:nvCxnSpPr>
        <p:spPr>
          <a:xfrm>
            <a:off x="502920" y="1115568"/>
            <a:ext cx="11155680" cy="0"/>
          </a:xfrm>
          <a:prstGeom prst="line">
            <a:avLst/>
          </a:prstGeom>
          <a:ln w="11000">
            <a:solidFill>
              <a:srgbClr val="CBD5E1"/>
            </a:solidFill>
          </a:ln>
        </p:spPr>
      </p:cxnSp>
      <p:sp>
        <p:nvSpPr>
          <p:cNvPr id="5" name="Shape 5"/>
          <p:cNvSpPr/>
          <p:nvPr/>
        </p:nvSpPr>
        <p:spPr>
          <a:xfrm>
            <a:off x="594360" y="1508760"/>
            <a:ext cx="35204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731520" y="1618488"/>
            <a:ext cx="3246120" cy="2286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ctr"/>
            <a:r>
              <a:rPr lang="en-US" sz="1500" b="1">
                <a:solidFill>
                  <a:srgbClr val="0F172A"/>
                </a:solidFill>
              </a:rPr>
              <a:t>0σ clean</a:t>
            </a:r>
          </a:p>
        </p:txBody>
      </p:sp>
      <p:cxnSp>
        <p:nvCxnSpPr>
          <p:cNvPr id="7" name="Line 7"/>
          <p:cNvCxnSpPr/>
          <p:nvPr/>
        </p:nvCxnSpPr>
        <p:spPr>
          <a:xfrm>
            <a:off x="822960" y="3200400"/>
            <a:ext cx="3063240" cy="0"/>
          </a:xfrm>
          <a:prstGeom prst="line">
            <a:avLst/>
          </a:prstGeom>
          <a:ln w="14000">
            <a:solidFill>
              <a:srgbClr val="94A3B8"/>
            </a:solidFill>
          </a:ln>
        </p:spPr>
      </p:cxnSp>
      <p:cxnSp>
        <p:nvCxnSpPr>
          <p:cNvPr id="8" name="Line 8"/>
          <p:cNvCxnSpPr/>
          <p:nvPr/>
        </p:nvCxnSpPr>
        <p:spPr>
          <a:xfrm>
            <a:off x="822960" y="2011680"/>
            <a:ext cx="0" cy="1188719"/>
          </a:xfrm>
          <a:prstGeom prst="line">
            <a:avLst/>
          </a:prstGeom>
          <a:ln w="14000">
            <a:solidFill>
              <a:srgbClr val="94A3B8"/>
            </a:solidFill>
          </a:ln>
        </p:spPr>
      </p:cxnSp>
      <p:cxnSp>
        <p:nvCxnSpPr>
          <p:cNvPr id="9" name="Line 9"/>
          <p:cNvCxnSpPr/>
          <p:nvPr/>
        </p:nvCxnSpPr>
        <p:spPr>
          <a:xfrm>
            <a:off x="2354580" y="2011680"/>
            <a:ext cx="0" cy="1188719"/>
          </a:xfrm>
          <a:prstGeom prst="line">
            <a:avLst/>
          </a:prstGeom>
          <a:ln w="12000">
            <a:solidFill>
              <a:srgbClr val="334155"/>
            </a:solidFill>
            <a:prstDash val="dash"/>
          </a:ln>
        </p:spPr>
      </p:cxnSp>
      <p:cxnSp>
        <p:nvCxnSpPr>
          <p:cNvPr id="10" name="Line 10"/>
          <p:cNvCxnSpPr/>
          <p:nvPr/>
        </p:nvCxnSpPr>
        <p:spPr>
          <a:xfrm flipV="1">
            <a:off x="822960" y="2442954"/>
            <a:ext cx="204215" cy="115537"/>
          </a:xfrm>
          <a:prstGeom prst="line">
            <a:avLst/>
          </a:prstGeom>
          <a:ln w="22000">
            <a:solidFill>
              <a:srgbClr val="2563EB"/>
            </a:solidFill>
          </a:ln>
        </p:spPr>
      </p:cxnSp>
      <p:cxnSp>
        <p:nvCxnSpPr>
          <p:cNvPr id="11" name="Line 11"/>
          <p:cNvCxnSpPr/>
          <p:nvPr/>
        </p:nvCxnSpPr>
        <p:spPr>
          <a:xfrm>
            <a:off x="1027176" y="2442954"/>
            <a:ext cx="204216" cy="64368"/>
          </a:xfrm>
          <a:prstGeom prst="line">
            <a:avLst/>
          </a:prstGeom>
          <a:ln w="22000">
            <a:solidFill>
              <a:srgbClr val="2563EB"/>
            </a:solidFill>
          </a:ln>
        </p:spPr>
      </p:cxnSp>
      <p:cxnSp>
        <p:nvCxnSpPr>
          <p:cNvPr id="12" name="Line 12"/>
          <p:cNvCxnSpPr/>
          <p:nvPr/>
        </p:nvCxnSpPr>
        <p:spPr>
          <a:xfrm>
            <a:off x="1231392" y="2507323"/>
            <a:ext cx="204216" cy="9725"/>
          </a:xfrm>
          <a:prstGeom prst="line">
            <a:avLst/>
          </a:prstGeom>
          <a:ln w="22000">
            <a:solidFill>
              <a:srgbClr val="2563EB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1435608" y="2517048"/>
            <a:ext cx="204216" cy="42889"/>
          </a:xfrm>
          <a:prstGeom prst="line">
            <a:avLst/>
          </a:prstGeom>
          <a:ln w="22000">
            <a:solidFill>
              <a:srgbClr val="2563EB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1639824" y="2559938"/>
            <a:ext cx="204215" cy="133341"/>
          </a:xfrm>
          <a:prstGeom prst="line">
            <a:avLst/>
          </a:prstGeom>
          <a:ln w="22000">
            <a:solidFill>
              <a:srgbClr val="2563EB"/>
            </a:solidFill>
          </a:ln>
        </p:spPr>
      </p:cxnSp>
      <p:cxnSp>
        <p:nvCxnSpPr>
          <p:cNvPr id="15" name="Line 15"/>
          <p:cNvCxnSpPr/>
          <p:nvPr/>
        </p:nvCxnSpPr>
        <p:spPr>
          <a:xfrm flipV="1">
            <a:off x="1844040" y="2630380"/>
            <a:ext cx="204216" cy="62899"/>
          </a:xfrm>
          <a:prstGeom prst="line">
            <a:avLst/>
          </a:prstGeom>
          <a:ln w="22000">
            <a:solidFill>
              <a:srgbClr val="2563EB"/>
            </a:solidFill>
          </a:ln>
        </p:spPr>
      </p:cxnSp>
      <p:cxnSp>
        <p:nvCxnSpPr>
          <p:cNvPr id="16" name="Line 16"/>
          <p:cNvCxnSpPr/>
          <p:nvPr/>
        </p:nvCxnSpPr>
        <p:spPr>
          <a:xfrm flipV="1">
            <a:off x="2048256" y="2516677"/>
            <a:ext cx="204215" cy="113702"/>
          </a:xfrm>
          <a:prstGeom prst="line">
            <a:avLst/>
          </a:prstGeom>
          <a:ln w="22000">
            <a:solidFill>
              <a:srgbClr val="2563EB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2252472" y="2516677"/>
            <a:ext cx="204215" cy="8540"/>
          </a:xfrm>
          <a:prstGeom prst="line">
            <a:avLst/>
          </a:prstGeom>
          <a:ln w="22000">
            <a:solidFill>
              <a:srgbClr val="2563EB"/>
            </a:solidFill>
          </a:ln>
        </p:spPr>
      </p:cxnSp>
      <p:cxnSp>
        <p:nvCxnSpPr>
          <p:cNvPr id="18" name="Line 18"/>
          <p:cNvCxnSpPr/>
          <p:nvPr/>
        </p:nvCxnSpPr>
        <p:spPr>
          <a:xfrm flipV="1">
            <a:off x="2456688" y="2463859"/>
            <a:ext cx="204216" cy="61358"/>
          </a:xfrm>
          <a:prstGeom prst="line">
            <a:avLst/>
          </a:prstGeom>
          <a:ln w="22000">
            <a:solidFill>
              <a:srgbClr val="2563EB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2660904" y="2463859"/>
            <a:ext cx="204215" cy="15658"/>
          </a:xfrm>
          <a:prstGeom prst="line">
            <a:avLst/>
          </a:prstGeom>
          <a:ln w="22000">
            <a:solidFill>
              <a:srgbClr val="2563EB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2865120" y="2479517"/>
            <a:ext cx="204215" cy="165049"/>
          </a:xfrm>
          <a:prstGeom prst="line">
            <a:avLst/>
          </a:prstGeom>
          <a:ln w="22000">
            <a:solidFill>
              <a:srgbClr val="2563EB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3069336" y="2644566"/>
            <a:ext cx="204216" cy="4013"/>
          </a:xfrm>
          <a:prstGeom prst="line">
            <a:avLst/>
          </a:prstGeom>
          <a:ln w="22000">
            <a:solidFill>
              <a:srgbClr val="2563EB"/>
            </a:solidFill>
          </a:ln>
        </p:spPr>
      </p:cxnSp>
      <p:cxnSp>
        <p:nvCxnSpPr>
          <p:cNvPr id="22" name="Line 22"/>
          <p:cNvCxnSpPr/>
          <p:nvPr/>
        </p:nvCxnSpPr>
        <p:spPr>
          <a:xfrm flipV="1">
            <a:off x="3273552" y="2591615"/>
            <a:ext cx="204216" cy="56964"/>
          </a:xfrm>
          <a:prstGeom prst="line">
            <a:avLst/>
          </a:prstGeom>
          <a:ln w="22000">
            <a:solidFill>
              <a:srgbClr val="2563EB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3477768" y="2591615"/>
            <a:ext cx="204215" cy="6593"/>
          </a:xfrm>
          <a:prstGeom prst="line">
            <a:avLst/>
          </a:prstGeom>
          <a:ln w="22000">
            <a:solidFill>
              <a:srgbClr val="2563EB"/>
            </a:solidFill>
          </a:ln>
        </p:spPr>
      </p:cxnSp>
      <p:cxnSp>
        <p:nvCxnSpPr>
          <p:cNvPr id="24" name="Line 24"/>
          <p:cNvCxnSpPr/>
          <p:nvPr/>
        </p:nvCxnSpPr>
        <p:spPr>
          <a:xfrm flipV="1">
            <a:off x="3681983" y="2478060"/>
            <a:ext cx="204216" cy="120148"/>
          </a:xfrm>
          <a:prstGeom prst="line">
            <a:avLst/>
          </a:prstGeom>
          <a:ln w="22000">
            <a:solidFill>
              <a:srgbClr val="2563EB"/>
            </a:solidFill>
          </a:ln>
        </p:spPr>
      </p:cxnSp>
      <p:sp>
        <p:nvSpPr>
          <p:cNvPr id="25" name="Shape 25"/>
          <p:cNvSpPr/>
          <p:nvPr/>
        </p:nvSpPr>
        <p:spPr>
          <a:xfrm>
            <a:off x="4343400" y="1508760"/>
            <a:ext cx="35204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26" name="Text 26"/>
          <p:cNvSpPr txBox="1"/>
          <p:nvPr/>
        </p:nvSpPr>
        <p:spPr>
          <a:xfrm>
            <a:off x="4480560" y="1618488"/>
            <a:ext cx="3246120" cy="2286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ctr"/>
            <a:r>
              <a:rPr lang="en-US" sz="1500" b="1">
                <a:solidFill>
                  <a:srgbClr val="0F172A"/>
                </a:solidFill>
              </a:rPr>
              <a:t>5σ shift</a:t>
            </a:r>
          </a:p>
        </p:txBody>
      </p:sp>
      <p:cxnSp>
        <p:nvCxnSpPr>
          <p:cNvPr id="27" name="Line 27"/>
          <p:cNvCxnSpPr/>
          <p:nvPr/>
        </p:nvCxnSpPr>
        <p:spPr>
          <a:xfrm>
            <a:off x="4572000" y="3200400"/>
            <a:ext cx="3063239" cy="0"/>
          </a:xfrm>
          <a:prstGeom prst="line">
            <a:avLst/>
          </a:prstGeom>
          <a:ln w="14000">
            <a:solidFill>
              <a:srgbClr val="94A3B8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4572000" y="2011680"/>
            <a:ext cx="0" cy="1188719"/>
          </a:xfrm>
          <a:prstGeom prst="line">
            <a:avLst/>
          </a:prstGeom>
          <a:ln w="14000">
            <a:solidFill>
              <a:srgbClr val="94A3B8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6103620" y="2011680"/>
            <a:ext cx="0" cy="1188719"/>
          </a:xfrm>
          <a:prstGeom prst="line">
            <a:avLst/>
          </a:prstGeom>
          <a:ln w="12000">
            <a:solidFill>
              <a:srgbClr val="334155"/>
            </a:solidFill>
            <a:prstDash val="dash"/>
          </a:ln>
        </p:spPr>
      </p:cxnSp>
      <p:cxnSp>
        <p:nvCxnSpPr>
          <p:cNvPr id="30" name="Line 30"/>
          <p:cNvCxnSpPr/>
          <p:nvPr/>
        </p:nvCxnSpPr>
        <p:spPr>
          <a:xfrm flipV="1">
            <a:off x="4572000" y="2442954"/>
            <a:ext cx="204216" cy="115537"/>
          </a:xfrm>
          <a:prstGeom prst="line">
            <a:avLst/>
          </a:prstGeom>
          <a:ln w="22000">
            <a:solidFill>
              <a:srgbClr val="F97316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4776216" y="2442954"/>
            <a:ext cx="204215" cy="64368"/>
          </a:xfrm>
          <a:prstGeom prst="line">
            <a:avLst/>
          </a:prstGeom>
          <a:ln w="22000">
            <a:solidFill>
              <a:srgbClr val="F97316"/>
            </a:solidFill>
          </a:ln>
        </p:spPr>
      </p:cxnSp>
      <p:cxnSp>
        <p:nvCxnSpPr>
          <p:cNvPr id="32" name="Line 32"/>
          <p:cNvCxnSpPr/>
          <p:nvPr/>
        </p:nvCxnSpPr>
        <p:spPr>
          <a:xfrm>
            <a:off x="4980432" y="2507323"/>
            <a:ext cx="204216" cy="9725"/>
          </a:xfrm>
          <a:prstGeom prst="line">
            <a:avLst/>
          </a:prstGeom>
          <a:ln w="22000">
            <a:solidFill>
              <a:srgbClr val="F97316"/>
            </a:solidFill>
          </a:ln>
        </p:spPr>
      </p:cxnSp>
      <p:cxnSp>
        <p:nvCxnSpPr>
          <p:cNvPr id="33" name="Line 33"/>
          <p:cNvCxnSpPr/>
          <p:nvPr/>
        </p:nvCxnSpPr>
        <p:spPr>
          <a:xfrm>
            <a:off x="5184648" y="2517048"/>
            <a:ext cx="204216" cy="42889"/>
          </a:xfrm>
          <a:prstGeom prst="line">
            <a:avLst/>
          </a:prstGeom>
          <a:ln w="22000">
            <a:solidFill>
              <a:srgbClr val="F97316"/>
            </a:solidFill>
          </a:ln>
        </p:spPr>
      </p:cxnSp>
      <p:cxnSp>
        <p:nvCxnSpPr>
          <p:cNvPr id="34" name="Line 34"/>
          <p:cNvCxnSpPr/>
          <p:nvPr/>
        </p:nvCxnSpPr>
        <p:spPr>
          <a:xfrm>
            <a:off x="5388864" y="2559938"/>
            <a:ext cx="204216" cy="133341"/>
          </a:xfrm>
          <a:prstGeom prst="line">
            <a:avLst/>
          </a:prstGeom>
          <a:ln w="22000">
            <a:solidFill>
              <a:srgbClr val="F97316"/>
            </a:solidFill>
          </a:ln>
        </p:spPr>
      </p:cxnSp>
      <p:cxnSp>
        <p:nvCxnSpPr>
          <p:cNvPr id="35" name="Line 35"/>
          <p:cNvCxnSpPr/>
          <p:nvPr/>
        </p:nvCxnSpPr>
        <p:spPr>
          <a:xfrm flipV="1">
            <a:off x="5593080" y="2630380"/>
            <a:ext cx="204215" cy="62899"/>
          </a:xfrm>
          <a:prstGeom prst="line">
            <a:avLst/>
          </a:prstGeom>
          <a:ln w="22000">
            <a:solidFill>
              <a:srgbClr val="F97316"/>
            </a:solidFill>
          </a:ln>
        </p:spPr>
      </p:cxnSp>
      <p:cxnSp>
        <p:nvCxnSpPr>
          <p:cNvPr id="36" name="Line 36"/>
          <p:cNvCxnSpPr/>
          <p:nvPr/>
        </p:nvCxnSpPr>
        <p:spPr>
          <a:xfrm flipV="1">
            <a:off x="5797296" y="2516677"/>
            <a:ext cx="204216" cy="113702"/>
          </a:xfrm>
          <a:prstGeom prst="line">
            <a:avLst/>
          </a:prstGeom>
          <a:ln w="22000">
            <a:solidFill>
              <a:srgbClr val="F97316"/>
            </a:solidFill>
          </a:ln>
        </p:spPr>
      </p:cxnSp>
      <p:cxnSp>
        <p:nvCxnSpPr>
          <p:cNvPr id="37" name="Line 37"/>
          <p:cNvCxnSpPr/>
          <p:nvPr/>
        </p:nvCxnSpPr>
        <p:spPr>
          <a:xfrm flipV="1">
            <a:off x="6001512" y="2317192"/>
            <a:ext cx="204216" cy="199485"/>
          </a:xfrm>
          <a:prstGeom prst="line">
            <a:avLst/>
          </a:prstGeom>
          <a:ln w="22000">
            <a:solidFill>
              <a:srgbClr val="F97316"/>
            </a:solidFill>
          </a:ln>
        </p:spPr>
      </p:cxnSp>
      <p:cxnSp>
        <p:nvCxnSpPr>
          <p:cNvPr id="38" name="Line 38"/>
          <p:cNvCxnSpPr/>
          <p:nvPr/>
        </p:nvCxnSpPr>
        <p:spPr>
          <a:xfrm flipV="1">
            <a:off x="6205728" y="2255833"/>
            <a:ext cx="204215" cy="61358"/>
          </a:xfrm>
          <a:prstGeom prst="line">
            <a:avLst/>
          </a:prstGeom>
          <a:ln w="22000">
            <a:solidFill>
              <a:srgbClr val="F97316"/>
            </a:solidFill>
          </a:ln>
        </p:spPr>
      </p:cxnSp>
      <p:cxnSp>
        <p:nvCxnSpPr>
          <p:cNvPr id="39" name="Line 39"/>
          <p:cNvCxnSpPr/>
          <p:nvPr/>
        </p:nvCxnSpPr>
        <p:spPr>
          <a:xfrm>
            <a:off x="6409944" y="2255833"/>
            <a:ext cx="204216" cy="15658"/>
          </a:xfrm>
          <a:prstGeom prst="line">
            <a:avLst/>
          </a:prstGeom>
          <a:ln w="22000">
            <a:solidFill>
              <a:srgbClr val="F97316"/>
            </a:solidFill>
          </a:ln>
        </p:spPr>
      </p:cxnSp>
      <p:cxnSp>
        <p:nvCxnSpPr>
          <p:cNvPr id="40" name="Line 40"/>
          <p:cNvCxnSpPr/>
          <p:nvPr/>
        </p:nvCxnSpPr>
        <p:spPr>
          <a:xfrm>
            <a:off x="6614160" y="2271491"/>
            <a:ext cx="204216" cy="165049"/>
          </a:xfrm>
          <a:prstGeom prst="line">
            <a:avLst/>
          </a:prstGeom>
          <a:ln w="22000">
            <a:solidFill>
              <a:srgbClr val="F97316"/>
            </a:solidFill>
          </a:ln>
        </p:spPr>
      </p:cxnSp>
      <p:cxnSp>
        <p:nvCxnSpPr>
          <p:cNvPr id="41" name="Line 41"/>
          <p:cNvCxnSpPr/>
          <p:nvPr/>
        </p:nvCxnSpPr>
        <p:spPr>
          <a:xfrm>
            <a:off x="6818376" y="2436540"/>
            <a:ext cx="204215" cy="4013"/>
          </a:xfrm>
          <a:prstGeom prst="line">
            <a:avLst/>
          </a:prstGeom>
          <a:ln w="22000">
            <a:solidFill>
              <a:srgbClr val="F97316"/>
            </a:solidFill>
          </a:ln>
        </p:spPr>
      </p:cxnSp>
      <p:cxnSp>
        <p:nvCxnSpPr>
          <p:cNvPr id="42" name="Line 42"/>
          <p:cNvCxnSpPr/>
          <p:nvPr/>
        </p:nvCxnSpPr>
        <p:spPr>
          <a:xfrm flipV="1">
            <a:off x="7022592" y="2383589"/>
            <a:ext cx="204216" cy="56964"/>
          </a:xfrm>
          <a:prstGeom prst="line">
            <a:avLst/>
          </a:prstGeom>
          <a:ln w="22000">
            <a:solidFill>
              <a:srgbClr val="F97316"/>
            </a:solidFill>
          </a:ln>
        </p:spPr>
      </p:cxnSp>
      <p:cxnSp>
        <p:nvCxnSpPr>
          <p:cNvPr id="43" name="Line 43"/>
          <p:cNvCxnSpPr/>
          <p:nvPr/>
        </p:nvCxnSpPr>
        <p:spPr>
          <a:xfrm>
            <a:off x="7226808" y="2383589"/>
            <a:ext cx="204215" cy="6593"/>
          </a:xfrm>
          <a:prstGeom prst="line">
            <a:avLst/>
          </a:prstGeom>
          <a:ln w="22000">
            <a:solidFill>
              <a:srgbClr val="F97316"/>
            </a:solidFill>
          </a:ln>
        </p:spPr>
      </p:cxnSp>
      <p:cxnSp>
        <p:nvCxnSpPr>
          <p:cNvPr id="44" name="Line 44"/>
          <p:cNvCxnSpPr/>
          <p:nvPr/>
        </p:nvCxnSpPr>
        <p:spPr>
          <a:xfrm flipV="1">
            <a:off x="7431024" y="2270034"/>
            <a:ext cx="204215" cy="120148"/>
          </a:xfrm>
          <a:prstGeom prst="line">
            <a:avLst/>
          </a:prstGeom>
          <a:ln w="22000">
            <a:solidFill>
              <a:srgbClr val="F97316"/>
            </a:solidFill>
          </a:ln>
        </p:spPr>
      </p:cxnSp>
      <p:sp>
        <p:nvSpPr>
          <p:cNvPr id="45" name="Shape 45"/>
          <p:cNvSpPr/>
          <p:nvPr/>
        </p:nvSpPr>
        <p:spPr>
          <a:xfrm>
            <a:off x="8092440" y="1508760"/>
            <a:ext cx="35204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46" name="Text 46"/>
          <p:cNvSpPr txBox="1"/>
          <p:nvPr/>
        </p:nvSpPr>
        <p:spPr>
          <a:xfrm>
            <a:off x="8229600" y="1618488"/>
            <a:ext cx="3246120" cy="2286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ctr"/>
            <a:r>
              <a:rPr lang="en-US" sz="1500" b="1">
                <a:solidFill>
                  <a:srgbClr val="0F172A"/>
                </a:solidFill>
              </a:rPr>
              <a:t>10σ shift</a:t>
            </a:r>
          </a:p>
        </p:txBody>
      </p:sp>
      <p:cxnSp>
        <p:nvCxnSpPr>
          <p:cNvPr id="47" name="Line 47"/>
          <p:cNvCxnSpPr/>
          <p:nvPr/>
        </p:nvCxnSpPr>
        <p:spPr>
          <a:xfrm>
            <a:off x="8321040" y="3200400"/>
            <a:ext cx="3063239" cy="0"/>
          </a:xfrm>
          <a:prstGeom prst="line">
            <a:avLst/>
          </a:prstGeom>
          <a:ln w="14000">
            <a:solidFill>
              <a:srgbClr val="94A3B8"/>
            </a:solidFill>
          </a:ln>
        </p:spPr>
      </p:cxnSp>
      <p:cxnSp>
        <p:nvCxnSpPr>
          <p:cNvPr id="48" name="Line 48"/>
          <p:cNvCxnSpPr/>
          <p:nvPr/>
        </p:nvCxnSpPr>
        <p:spPr>
          <a:xfrm>
            <a:off x="8321040" y="2011680"/>
            <a:ext cx="0" cy="1188719"/>
          </a:xfrm>
          <a:prstGeom prst="line">
            <a:avLst/>
          </a:prstGeom>
          <a:ln w="14000">
            <a:solidFill>
              <a:srgbClr val="94A3B8"/>
            </a:solidFill>
          </a:ln>
        </p:spPr>
      </p:cxnSp>
      <p:cxnSp>
        <p:nvCxnSpPr>
          <p:cNvPr id="49" name="Line 49"/>
          <p:cNvCxnSpPr/>
          <p:nvPr/>
        </p:nvCxnSpPr>
        <p:spPr>
          <a:xfrm>
            <a:off x="9852660" y="2011680"/>
            <a:ext cx="0" cy="1188719"/>
          </a:xfrm>
          <a:prstGeom prst="line">
            <a:avLst/>
          </a:prstGeom>
          <a:ln w="12000">
            <a:solidFill>
              <a:srgbClr val="334155"/>
            </a:solidFill>
            <a:prstDash val="dash"/>
          </a:ln>
        </p:spPr>
      </p:cxnSp>
      <p:cxnSp>
        <p:nvCxnSpPr>
          <p:cNvPr id="50" name="Line 50"/>
          <p:cNvCxnSpPr/>
          <p:nvPr/>
        </p:nvCxnSpPr>
        <p:spPr>
          <a:xfrm flipV="1">
            <a:off x="8321040" y="2442954"/>
            <a:ext cx="204215" cy="115537"/>
          </a:xfrm>
          <a:prstGeom prst="line">
            <a:avLst/>
          </a:prstGeom>
          <a:ln w="22000">
            <a:solidFill>
              <a:srgbClr val="DC2626"/>
            </a:solidFill>
          </a:ln>
        </p:spPr>
      </p:cxnSp>
      <p:cxnSp>
        <p:nvCxnSpPr>
          <p:cNvPr id="51" name="Line 51"/>
          <p:cNvCxnSpPr/>
          <p:nvPr/>
        </p:nvCxnSpPr>
        <p:spPr>
          <a:xfrm>
            <a:off x="8525256" y="2442954"/>
            <a:ext cx="204216" cy="64368"/>
          </a:xfrm>
          <a:prstGeom prst="line">
            <a:avLst/>
          </a:prstGeom>
          <a:ln w="22000">
            <a:solidFill>
              <a:srgbClr val="DC2626"/>
            </a:solidFill>
          </a:ln>
        </p:spPr>
      </p:cxnSp>
      <p:cxnSp>
        <p:nvCxnSpPr>
          <p:cNvPr id="52" name="Line 52"/>
          <p:cNvCxnSpPr/>
          <p:nvPr/>
        </p:nvCxnSpPr>
        <p:spPr>
          <a:xfrm>
            <a:off x="8729472" y="2507323"/>
            <a:ext cx="204215" cy="9725"/>
          </a:xfrm>
          <a:prstGeom prst="line">
            <a:avLst/>
          </a:prstGeom>
          <a:ln w="22000">
            <a:solidFill>
              <a:srgbClr val="DC2626"/>
            </a:solidFill>
          </a:ln>
        </p:spPr>
      </p:cxnSp>
      <p:cxnSp>
        <p:nvCxnSpPr>
          <p:cNvPr id="53" name="Line 53"/>
          <p:cNvCxnSpPr/>
          <p:nvPr/>
        </p:nvCxnSpPr>
        <p:spPr>
          <a:xfrm>
            <a:off x="8933688" y="2517048"/>
            <a:ext cx="204215" cy="42889"/>
          </a:xfrm>
          <a:prstGeom prst="line">
            <a:avLst/>
          </a:prstGeom>
          <a:ln w="22000">
            <a:solidFill>
              <a:srgbClr val="DC2626"/>
            </a:solidFill>
          </a:ln>
        </p:spPr>
      </p:cxnSp>
      <p:cxnSp>
        <p:nvCxnSpPr>
          <p:cNvPr id="54" name="Line 54"/>
          <p:cNvCxnSpPr/>
          <p:nvPr/>
        </p:nvCxnSpPr>
        <p:spPr>
          <a:xfrm>
            <a:off x="9137903" y="2559938"/>
            <a:ext cx="204216" cy="133341"/>
          </a:xfrm>
          <a:prstGeom prst="line">
            <a:avLst/>
          </a:prstGeom>
          <a:ln w="22000">
            <a:solidFill>
              <a:srgbClr val="DC2626"/>
            </a:solidFill>
          </a:ln>
        </p:spPr>
      </p:cxnSp>
      <p:cxnSp>
        <p:nvCxnSpPr>
          <p:cNvPr id="55" name="Line 55"/>
          <p:cNvCxnSpPr/>
          <p:nvPr/>
        </p:nvCxnSpPr>
        <p:spPr>
          <a:xfrm flipV="1">
            <a:off x="9342120" y="2630380"/>
            <a:ext cx="204215" cy="62899"/>
          </a:xfrm>
          <a:prstGeom prst="line">
            <a:avLst/>
          </a:prstGeom>
          <a:ln w="22000">
            <a:solidFill>
              <a:srgbClr val="DC2626"/>
            </a:solidFill>
          </a:ln>
        </p:spPr>
      </p:cxnSp>
      <p:cxnSp>
        <p:nvCxnSpPr>
          <p:cNvPr id="56" name="Line 56"/>
          <p:cNvCxnSpPr/>
          <p:nvPr/>
        </p:nvCxnSpPr>
        <p:spPr>
          <a:xfrm flipV="1">
            <a:off x="9546336" y="2516677"/>
            <a:ext cx="204215" cy="113702"/>
          </a:xfrm>
          <a:prstGeom prst="line">
            <a:avLst/>
          </a:prstGeom>
          <a:ln w="22000">
            <a:solidFill>
              <a:srgbClr val="DC2626"/>
            </a:solidFill>
          </a:ln>
        </p:spPr>
      </p:cxnSp>
      <p:cxnSp>
        <p:nvCxnSpPr>
          <p:cNvPr id="57" name="Line 57"/>
          <p:cNvCxnSpPr/>
          <p:nvPr/>
        </p:nvCxnSpPr>
        <p:spPr>
          <a:xfrm flipV="1">
            <a:off x="9750551" y="2109166"/>
            <a:ext cx="204216" cy="407511"/>
          </a:xfrm>
          <a:prstGeom prst="line">
            <a:avLst/>
          </a:prstGeom>
          <a:ln w="22000">
            <a:solidFill>
              <a:srgbClr val="DC2626"/>
            </a:solidFill>
          </a:ln>
        </p:spPr>
      </p:cxnSp>
      <p:cxnSp>
        <p:nvCxnSpPr>
          <p:cNvPr id="58" name="Line 58"/>
          <p:cNvCxnSpPr/>
          <p:nvPr/>
        </p:nvCxnSpPr>
        <p:spPr>
          <a:xfrm flipV="1">
            <a:off x="9954768" y="2071116"/>
            <a:ext cx="204215" cy="38050"/>
          </a:xfrm>
          <a:prstGeom prst="line">
            <a:avLst/>
          </a:prstGeom>
          <a:ln w="22000">
            <a:solidFill>
              <a:srgbClr val="DC2626"/>
            </a:solidFill>
          </a:ln>
        </p:spPr>
      </p:cxnSp>
      <p:cxnSp>
        <p:nvCxnSpPr>
          <p:cNvPr id="59" name="Line 59"/>
          <p:cNvCxnSpPr/>
          <p:nvPr/>
        </p:nvCxnSpPr>
        <p:spPr>
          <a:xfrm>
            <a:off x="10158984" y="2071116"/>
            <a:ext cx="204215" cy="0"/>
          </a:xfrm>
          <a:prstGeom prst="line">
            <a:avLst/>
          </a:prstGeom>
          <a:ln w="22000">
            <a:solidFill>
              <a:srgbClr val="DC2626"/>
            </a:solidFill>
          </a:ln>
        </p:spPr>
      </p:cxnSp>
      <p:cxnSp>
        <p:nvCxnSpPr>
          <p:cNvPr id="60" name="Line 60"/>
          <p:cNvCxnSpPr/>
          <p:nvPr/>
        </p:nvCxnSpPr>
        <p:spPr>
          <a:xfrm>
            <a:off x="10363199" y="2071116"/>
            <a:ext cx="204216" cy="157398"/>
          </a:xfrm>
          <a:prstGeom prst="line">
            <a:avLst/>
          </a:prstGeom>
          <a:ln w="22000">
            <a:solidFill>
              <a:srgbClr val="DC2626"/>
            </a:solidFill>
          </a:ln>
        </p:spPr>
      </p:cxnSp>
      <p:cxnSp>
        <p:nvCxnSpPr>
          <p:cNvPr id="61" name="Line 61"/>
          <p:cNvCxnSpPr/>
          <p:nvPr/>
        </p:nvCxnSpPr>
        <p:spPr>
          <a:xfrm>
            <a:off x="10567416" y="2228514"/>
            <a:ext cx="204215" cy="4013"/>
          </a:xfrm>
          <a:prstGeom prst="line">
            <a:avLst/>
          </a:prstGeom>
          <a:ln w="22000">
            <a:solidFill>
              <a:srgbClr val="DC2626"/>
            </a:solidFill>
          </a:ln>
        </p:spPr>
      </p:cxnSp>
      <p:cxnSp>
        <p:nvCxnSpPr>
          <p:cNvPr id="62" name="Line 62"/>
          <p:cNvCxnSpPr/>
          <p:nvPr/>
        </p:nvCxnSpPr>
        <p:spPr>
          <a:xfrm flipV="1">
            <a:off x="10771632" y="2175563"/>
            <a:ext cx="204216" cy="56964"/>
          </a:xfrm>
          <a:prstGeom prst="line">
            <a:avLst/>
          </a:prstGeom>
          <a:ln w="22000">
            <a:solidFill>
              <a:srgbClr val="DC2626"/>
            </a:solidFill>
          </a:ln>
        </p:spPr>
      </p:cxnSp>
      <p:cxnSp>
        <p:nvCxnSpPr>
          <p:cNvPr id="63" name="Line 63"/>
          <p:cNvCxnSpPr/>
          <p:nvPr/>
        </p:nvCxnSpPr>
        <p:spPr>
          <a:xfrm>
            <a:off x="10975848" y="2175563"/>
            <a:ext cx="204215" cy="6593"/>
          </a:xfrm>
          <a:prstGeom prst="line">
            <a:avLst/>
          </a:prstGeom>
          <a:ln w="22000">
            <a:solidFill>
              <a:srgbClr val="DC2626"/>
            </a:solidFill>
          </a:ln>
        </p:spPr>
      </p:cxnSp>
      <p:cxnSp>
        <p:nvCxnSpPr>
          <p:cNvPr id="64" name="Line 64"/>
          <p:cNvCxnSpPr/>
          <p:nvPr/>
        </p:nvCxnSpPr>
        <p:spPr>
          <a:xfrm flipV="1">
            <a:off x="11180064" y="2071116"/>
            <a:ext cx="204215" cy="111041"/>
          </a:xfrm>
          <a:prstGeom prst="line">
            <a:avLst/>
          </a:prstGeom>
          <a:ln w="22000">
            <a:solidFill>
              <a:srgbClr val="DC2626"/>
            </a:solidFill>
          </a:ln>
        </p:spPr>
      </p:cxnSp>
      <p:sp>
        <p:nvSpPr>
          <p:cNvPr id="65" name="Shape 65"/>
          <p:cNvSpPr/>
          <p:nvPr/>
        </p:nvSpPr>
        <p:spPr>
          <a:xfrm>
            <a:off x="822960" y="3977639"/>
            <a:ext cx="46634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66" name="Text 66"/>
          <p:cNvSpPr txBox="1"/>
          <p:nvPr/>
        </p:nvSpPr>
        <p:spPr>
          <a:xfrm>
            <a:off x="1051560" y="4315968"/>
            <a:ext cx="4206240" cy="41148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ctr"/>
            <a:r>
              <a:rPr lang="en-US" sz="2400" b="1">
                <a:solidFill>
                  <a:srgbClr val="0F172A"/>
                </a:solidFill>
              </a:rPr>
              <a:t>x'_t = x_t,     t &lt; T_shift</a:t>
            </a:r>
          </a:p>
        </p:txBody>
      </p:sp>
      <p:sp>
        <p:nvSpPr>
          <p:cNvPr id="67" name="Shape 67"/>
          <p:cNvSpPr/>
          <p:nvPr/>
        </p:nvSpPr>
        <p:spPr>
          <a:xfrm>
            <a:off x="6675120" y="3977639"/>
            <a:ext cx="46634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68" name="Text 68"/>
          <p:cNvSpPr txBox="1"/>
          <p:nvPr/>
        </p:nvSpPr>
        <p:spPr>
          <a:xfrm>
            <a:off x="6903720" y="4315968"/>
            <a:ext cx="4206240" cy="41148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ctr"/>
            <a:r>
              <a:rPr lang="en-US" sz="2400" b="1">
                <a:solidFill>
                  <a:srgbClr val="0F172A"/>
                </a:solidFill>
              </a:rPr>
              <a:t>x'_t = x_t + α · σ,     t ≥ T_shift</a:t>
            </a:r>
          </a:p>
        </p:txBody>
      </p:sp>
      <p:cxnSp>
        <p:nvCxnSpPr>
          <p:cNvPr id="69" name="Line 69"/>
          <p:cNvCxnSpPr/>
          <p:nvPr/>
        </p:nvCxnSpPr>
        <p:spPr>
          <a:xfrm>
            <a:off x="5715000" y="4526280"/>
            <a:ext cx="731519" cy="0"/>
          </a:xfrm>
          <a:prstGeom prst="line">
            <a:avLst/>
          </a:prstGeom>
          <a:ln w="26000">
            <a:solidFill>
              <a:srgbClr val="334155"/>
            </a:solidFill>
          </a:ln>
        </p:spPr>
      </p:cxnSp>
      <p:sp>
        <p:nvSpPr>
          <p:cNvPr id="70" name="Shape 70"/>
          <p:cNvSpPr/>
          <p:nvPr/>
        </p:nvSpPr>
        <p:spPr>
          <a:xfrm>
            <a:off x="914400" y="5623560"/>
            <a:ext cx="10149840" cy="59436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71" name="Text 71"/>
          <p:cNvSpPr txBox="1"/>
          <p:nvPr/>
        </p:nvSpPr>
        <p:spPr>
          <a:xfrm>
            <a:off x="1188720" y="577900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ctr"/>
            <a:r>
              <a:rPr lang="en-US" sz="1900" b="1">
                <a:solidFill>
                  <a:srgbClr val="0C4A6E"/>
                </a:solidFill>
              </a:rPr>
              <a:t>First half unchanged; second half receives a severity-scaled shift.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56032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l"/>
            <a:r>
              <a:rPr lang="en-US" sz="3200" b="1">
                <a:solidFill>
                  <a:srgbClr val="0F172A"/>
                </a:solidFill>
              </a:rPr>
              <a:t>How We Measure Robustness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30352" y="804672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l"/>
            <a:r>
              <a:rPr lang="en-US" sz="1500">
                <a:solidFill>
                  <a:srgbClr val="475569"/>
                </a:solidFill>
              </a:rPr>
              <a:t>Overall accuracy plus window-level negative adaptation</a:t>
            </a:r>
          </a:p>
        </p:txBody>
      </p:sp>
      <p:cxnSp>
        <p:nvCxnSpPr>
          <p:cNvPr id="4" name="Line 4"/>
          <p:cNvCxnSpPr/>
          <p:nvPr/>
        </p:nvCxnSpPr>
        <p:spPr>
          <a:xfrm>
            <a:off x="502920" y="1115568"/>
            <a:ext cx="11155680" cy="0"/>
          </a:xfrm>
          <a:prstGeom prst="line">
            <a:avLst/>
          </a:prstGeom>
          <a:ln w="11000">
            <a:solidFill>
              <a:srgbClr val="CBD5E1"/>
            </a:solidFill>
          </a:ln>
        </p:spPr>
      </p:cxnSp>
      <p:sp>
        <p:nvSpPr>
          <p:cNvPr id="5" name="Shape 5"/>
          <p:cNvSpPr/>
          <p:nvPr/>
        </p:nvSpPr>
        <p:spPr>
          <a:xfrm>
            <a:off x="731520" y="1554480"/>
            <a:ext cx="50749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960120" y="1810512"/>
            <a:ext cx="4617720" cy="32004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ctr"/>
            <a:r>
              <a:rPr lang="en-US" sz="2500" b="1">
                <a:solidFill>
                  <a:srgbClr val="15803D"/>
                </a:solidFill>
              </a:rPr>
              <a:t>Improvement%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960120" y="2331720"/>
            <a:ext cx="4617720" cy="36576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ctr"/>
            <a:r>
              <a:rPr lang="en-US" sz="2000" b="1">
                <a:solidFill>
                  <a:srgbClr val="0F172A"/>
                </a:solidFill>
              </a:rPr>
              <a:t>(Baseline MSE - COSA MSE) / Baseline MSE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005840" y="2898648"/>
            <a:ext cx="4526280" cy="2286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ctr"/>
            <a:r>
              <a:rPr lang="en-US" sz="1500">
                <a:solidFill>
                  <a:srgbClr val="475569"/>
                </a:solidFill>
              </a:rPr>
              <a:t>positive = COSA helps    negative = COSA hurts</a:t>
            </a:r>
          </a:p>
        </p:txBody>
      </p:sp>
      <p:sp>
        <p:nvSpPr>
          <p:cNvPr id="9" name="Shape 9"/>
          <p:cNvSpPr/>
          <p:nvPr/>
        </p:nvSpPr>
        <p:spPr>
          <a:xfrm>
            <a:off x="6400800" y="1554480"/>
            <a:ext cx="50749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6629400" y="1810512"/>
            <a:ext cx="4617720" cy="32004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ctr"/>
            <a:r>
              <a:rPr lang="en-US" sz="2500" b="1">
                <a:solidFill>
                  <a:srgbClr val="B91C1C"/>
                </a:solidFill>
              </a:rPr>
              <a:t>NAR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6629400" y="2331720"/>
            <a:ext cx="4617720" cy="36576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ctr"/>
            <a:r>
              <a:rPr lang="en-US" sz="2000" b="1">
                <a:solidFill>
                  <a:srgbClr val="0F172A"/>
                </a:solidFill>
              </a:rPr>
              <a:t>worse windows / total windows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6675120" y="2898648"/>
            <a:ext cx="4526280" cy="2286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ctr"/>
            <a:r>
              <a:rPr lang="en-US" sz="1500">
                <a:solidFill>
                  <a:srgbClr val="475569"/>
                </a:solidFill>
              </a:rPr>
              <a:t>higher = more negative adaptation</a:t>
            </a:r>
          </a:p>
        </p:txBody>
      </p:sp>
      <p:sp>
        <p:nvSpPr>
          <p:cNvPr id="13" name="Shape 13"/>
          <p:cNvSpPr/>
          <p:nvPr/>
        </p:nvSpPr>
        <p:spPr>
          <a:xfrm>
            <a:off x="1234440" y="4343400"/>
            <a:ext cx="411480" cy="41148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1298448" y="4379976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ctr"/>
            <a:r>
              <a:rPr lang="en-US" sz="2000" b="1">
                <a:solidFill>
                  <a:srgbClr val="15803D"/>
                </a:solidFill>
              </a:rPr>
              <a:t>✓</a:t>
            </a:r>
          </a:p>
        </p:txBody>
      </p:sp>
      <p:sp>
        <p:nvSpPr>
          <p:cNvPr id="15" name="Shape 15"/>
          <p:cNvSpPr/>
          <p:nvPr/>
        </p:nvSpPr>
        <p:spPr>
          <a:xfrm>
            <a:off x="1947672" y="4343400"/>
            <a:ext cx="411480" cy="41148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txBody>
          <a:bodyPr/>
          <a:lstStyle/>
          <a:p/>
        </p:txBody>
      </p:sp>
      <p:sp>
        <p:nvSpPr>
          <p:cNvPr id="16" name="Text 16"/>
          <p:cNvSpPr txBox="1"/>
          <p:nvPr/>
        </p:nvSpPr>
        <p:spPr>
          <a:xfrm>
            <a:off x="2011679" y="4379976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ctr"/>
            <a:r>
              <a:rPr lang="en-US" sz="2000" b="1">
                <a:solidFill>
                  <a:srgbClr val="15803D"/>
                </a:solidFill>
              </a:rPr>
              <a:t>✓</a:t>
            </a:r>
          </a:p>
        </p:txBody>
      </p:sp>
      <p:sp>
        <p:nvSpPr>
          <p:cNvPr id="17" name="Shape 17"/>
          <p:cNvSpPr/>
          <p:nvPr/>
        </p:nvSpPr>
        <p:spPr>
          <a:xfrm>
            <a:off x="2660904" y="4343400"/>
            <a:ext cx="411480" cy="41148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txBody>
          <a:bodyPr/>
          <a:lstStyle/>
          <a:p/>
        </p:txBody>
      </p:sp>
      <p:sp>
        <p:nvSpPr>
          <p:cNvPr id="18" name="Text 18"/>
          <p:cNvSpPr txBox="1"/>
          <p:nvPr/>
        </p:nvSpPr>
        <p:spPr>
          <a:xfrm>
            <a:off x="2724912" y="4379976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ctr"/>
            <a:r>
              <a:rPr lang="en-US" sz="2000" b="1">
                <a:solidFill>
                  <a:srgbClr val="15803D"/>
                </a:solidFill>
              </a:rPr>
              <a:t>✓</a:t>
            </a:r>
          </a:p>
        </p:txBody>
      </p:sp>
      <p:sp>
        <p:nvSpPr>
          <p:cNvPr id="19" name="Shape 19"/>
          <p:cNvSpPr/>
          <p:nvPr/>
        </p:nvSpPr>
        <p:spPr>
          <a:xfrm>
            <a:off x="3374136" y="4343400"/>
            <a:ext cx="411480" cy="41148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txBody>
          <a:bodyPr/>
          <a:lstStyle/>
          <a:p/>
        </p:txBody>
      </p:sp>
      <p:sp>
        <p:nvSpPr>
          <p:cNvPr id="20" name="Text 20"/>
          <p:cNvSpPr txBox="1"/>
          <p:nvPr/>
        </p:nvSpPr>
        <p:spPr>
          <a:xfrm>
            <a:off x="3438144" y="4379976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ctr"/>
            <a:r>
              <a:rPr lang="en-US" sz="2000" b="1">
                <a:solidFill>
                  <a:srgbClr val="15803D"/>
                </a:solidFill>
              </a:rPr>
              <a:t>✓</a:t>
            </a:r>
          </a:p>
        </p:txBody>
      </p:sp>
      <p:sp>
        <p:nvSpPr>
          <p:cNvPr id="21" name="Shape 21"/>
          <p:cNvSpPr/>
          <p:nvPr/>
        </p:nvSpPr>
        <p:spPr>
          <a:xfrm>
            <a:off x="4087368" y="4343400"/>
            <a:ext cx="411480" cy="41148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4151376" y="4379976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ctr"/>
            <a:r>
              <a:rPr lang="en-US" sz="2000" b="1">
                <a:solidFill>
                  <a:srgbClr val="15803D"/>
                </a:solidFill>
              </a:rPr>
              <a:t>✓</a:t>
            </a:r>
          </a:p>
        </p:txBody>
      </p:sp>
      <p:sp>
        <p:nvSpPr>
          <p:cNvPr id="23" name="Shape 23"/>
          <p:cNvSpPr/>
          <p:nvPr/>
        </p:nvSpPr>
        <p:spPr>
          <a:xfrm>
            <a:off x="4800600" y="4343400"/>
            <a:ext cx="411480" cy="41148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txBody>
          <a:bodyPr/>
          <a:lstStyle/>
          <a:p/>
        </p:txBody>
      </p:sp>
      <p:sp>
        <p:nvSpPr>
          <p:cNvPr id="24" name="Text 24"/>
          <p:cNvSpPr txBox="1"/>
          <p:nvPr/>
        </p:nvSpPr>
        <p:spPr>
          <a:xfrm>
            <a:off x="4864608" y="4379976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ctr"/>
            <a:r>
              <a:rPr lang="en-US" sz="2000" b="1">
                <a:solidFill>
                  <a:srgbClr val="DC2626"/>
                </a:solidFill>
              </a:rPr>
              <a:t>×</a:t>
            </a:r>
          </a:p>
        </p:txBody>
      </p:sp>
      <p:sp>
        <p:nvSpPr>
          <p:cNvPr id="25" name="Shape 25"/>
          <p:cNvSpPr/>
          <p:nvPr/>
        </p:nvSpPr>
        <p:spPr>
          <a:xfrm>
            <a:off x="5513831" y="4343400"/>
            <a:ext cx="411480" cy="41148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txBody>
          <a:bodyPr/>
          <a:lstStyle/>
          <a:p/>
        </p:txBody>
      </p:sp>
      <p:sp>
        <p:nvSpPr>
          <p:cNvPr id="26" name="Text 26"/>
          <p:cNvSpPr txBox="1"/>
          <p:nvPr/>
        </p:nvSpPr>
        <p:spPr>
          <a:xfrm>
            <a:off x="5577840" y="4379976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ctr"/>
            <a:r>
              <a:rPr lang="en-US" sz="2000" b="1">
                <a:solidFill>
                  <a:srgbClr val="DC2626"/>
                </a:solidFill>
              </a:rPr>
              <a:t>×</a:t>
            </a:r>
          </a:p>
        </p:txBody>
      </p:sp>
      <p:sp>
        <p:nvSpPr>
          <p:cNvPr id="27" name="Shape 27"/>
          <p:cNvSpPr/>
          <p:nvPr/>
        </p:nvSpPr>
        <p:spPr>
          <a:xfrm>
            <a:off x="6227064" y="4343400"/>
            <a:ext cx="411480" cy="41148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txBody>
          <a:bodyPr/>
          <a:lstStyle/>
          <a:p/>
        </p:txBody>
      </p:sp>
      <p:sp>
        <p:nvSpPr>
          <p:cNvPr id="28" name="Text 28"/>
          <p:cNvSpPr txBox="1"/>
          <p:nvPr/>
        </p:nvSpPr>
        <p:spPr>
          <a:xfrm>
            <a:off x="6291072" y="4379976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ctr"/>
            <a:r>
              <a:rPr lang="en-US" sz="2000" b="1">
                <a:solidFill>
                  <a:srgbClr val="DC2626"/>
                </a:solidFill>
              </a:rPr>
              <a:t>×</a:t>
            </a:r>
          </a:p>
        </p:txBody>
      </p:sp>
      <p:sp>
        <p:nvSpPr>
          <p:cNvPr id="29" name="Shape 29"/>
          <p:cNvSpPr/>
          <p:nvPr/>
        </p:nvSpPr>
        <p:spPr>
          <a:xfrm>
            <a:off x="6940296" y="4343400"/>
            <a:ext cx="411480" cy="41148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txBody>
          <a:bodyPr/>
          <a:lstStyle/>
          <a:p/>
        </p:txBody>
      </p:sp>
      <p:sp>
        <p:nvSpPr>
          <p:cNvPr id="30" name="Text 30"/>
          <p:cNvSpPr txBox="1"/>
          <p:nvPr/>
        </p:nvSpPr>
        <p:spPr>
          <a:xfrm>
            <a:off x="7004304" y="4379976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ctr"/>
            <a:r>
              <a:rPr lang="en-US" sz="2000" b="1">
                <a:solidFill>
                  <a:srgbClr val="DC2626"/>
                </a:solidFill>
              </a:rPr>
              <a:t>×</a:t>
            </a:r>
          </a:p>
        </p:txBody>
      </p:sp>
      <p:sp>
        <p:nvSpPr>
          <p:cNvPr id="31" name="Shape 31"/>
          <p:cNvSpPr/>
          <p:nvPr/>
        </p:nvSpPr>
        <p:spPr>
          <a:xfrm>
            <a:off x="7653528" y="4343400"/>
            <a:ext cx="411480" cy="41148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txBody>
          <a:bodyPr/>
          <a:lstStyle/>
          <a:p/>
        </p:txBody>
      </p:sp>
      <p:sp>
        <p:nvSpPr>
          <p:cNvPr id="32" name="Text 32"/>
          <p:cNvSpPr txBox="1"/>
          <p:nvPr/>
        </p:nvSpPr>
        <p:spPr>
          <a:xfrm>
            <a:off x="7717536" y="4379976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ctr"/>
            <a:r>
              <a:rPr lang="en-US" sz="2000" b="1">
                <a:solidFill>
                  <a:srgbClr val="DC2626"/>
                </a:solidFill>
              </a:rPr>
              <a:t>×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1234440" y="498348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l"/>
            <a:r>
              <a:rPr lang="en-US" sz="1700" b="1">
                <a:solidFill>
                  <a:srgbClr val="15803D"/>
                </a:solidFill>
              </a:rPr>
              <a:t>COSA better or equal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4663440" y="498348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l"/>
            <a:r>
              <a:rPr lang="en-US" sz="1700" b="1">
                <a:solidFill>
                  <a:srgbClr val="DC2626"/>
                </a:solidFill>
              </a:rPr>
              <a:t>COSA worse</a:t>
            </a:r>
          </a:p>
        </p:txBody>
      </p:sp>
      <p:sp>
        <p:nvSpPr>
          <p:cNvPr id="35" name="Shape 35"/>
          <p:cNvSpPr/>
          <p:nvPr/>
        </p:nvSpPr>
        <p:spPr>
          <a:xfrm>
            <a:off x="8001000" y="4160520"/>
            <a:ext cx="2743200" cy="9601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/>
          <a:lstStyle/>
          <a:p/>
        </p:txBody>
      </p:sp>
      <p:sp>
        <p:nvSpPr>
          <p:cNvPr id="36" name="Text 36"/>
          <p:cNvSpPr txBox="1"/>
          <p:nvPr/>
        </p:nvSpPr>
        <p:spPr>
          <a:xfrm>
            <a:off x="8229600" y="441655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ctr"/>
            <a:r>
              <a:rPr lang="en-US" sz="1900" b="1">
                <a:solidFill>
                  <a:srgbClr val="92400E"/>
                </a:solidFill>
              </a:rPr>
              <a:t>Example: 5 / 10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8229600" y="4736592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ctr"/>
            <a:r>
              <a:rPr lang="en-US" sz="1800" b="1">
                <a:solidFill>
                  <a:srgbClr val="92400E"/>
                </a:solidFill>
              </a:rPr>
              <a:t>NAR = 50%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56032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l"/>
            <a:r>
              <a:rPr lang="en-US" sz="3200" b="1">
                <a:solidFill>
                  <a:srgbClr val="0F172A"/>
                </a:solidFill>
              </a:rPr>
              <a:t>Main Results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30352" y="804672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l"/>
            <a:r>
              <a:rPr lang="en-US" sz="1500">
                <a:solidFill>
                  <a:srgbClr val="475569"/>
                </a:solidFill>
              </a:rPr>
              <a:t>COSA helps slightly on clean data, but weakens under abrupt shifts</a:t>
            </a:r>
          </a:p>
        </p:txBody>
      </p:sp>
      <p:cxnSp>
        <p:nvCxnSpPr>
          <p:cNvPr id="4" name="Line 4"/>
          <p:cNvCxnSpPr/>
          <p:nvPr/>
        </p:nvCxnSpPr>
        <p:spPr>
          <a:xfrm>
            <a:off x="502920" y="1115568"/>
            <a:ext cx="11155680" cy="0"/>
          </a:xfrm>
          <a:prstGeom prst="line">
            <a:avLst/>
          </a:prstGeom>
          <a:ln w="11000">
            <a:solidFill>
              <a:srgbClr val="CBD5E1"/>
            </a:solidFill>
          </a:ln>
        </p:spPr>
      </p:cxnSp>
      <p:sp>
        <p:nvSpPr>
          <p:cNvPr id="5" name="Shape 5"/>
          <p:cNvSpPr/>
          <p:nvPr/>
        </p:nvSpPr>
        <p:spPr>
          <a:xfrm>
            <a:off x="685800" y="1417320"/>
            <a:ext cx="516636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914400" y="1554480"/>
            <a:ext cx="4709160" cy="27432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l"/>
            <a:r>
              <a:rPr lang="en-US" sz="1500" b="1">
                <a:solidFill>
                  <a:srgbClr val="0F172A"/>
                </a:solidFill>
              </a:rPr>
              <a:t>Improvement%: positive means COSA helps</a:t>
            </a:r>
          </a:p>
        </p:txBody>
      </p:sp>
      <p:cxnSp>
        <p:nvCxnSpPr>
          <p:cNvPr id="7" name="Line 7"/>
          <p:cNvCxnSpPr/>
          <p:nvPr/>
        </p:nvCxnSpPr>
        <p:spPr>
          <a:xfrm>
            <a:off x="1188720" y="3102102"/>
            <a:ext cx="4343400" cy="0"/>
          </a:xfrm>
          <a:prstGeom prst="line">
            <a:avLst/>
          </a:prstGeom>
          <a:ln w="12000">
            <a:solidFill>
              <a:srgbClr val="94A3B8"/>
            </a:solidFill>
          </a:ln>
        </p:spPr>
      </p:cxnSp>
      <p:sp>
        <p:nvSpPr>
          <p:cNvPr id="8" name="Shape 8"/>
          <p:cNvSpPr/>
          <p:nvPr/>
        </p:nvSpPr>
        <p:spPr>
          <a:xfrm>
            <a:off x="1600200" y="1940814"/>
            <a:ext cx="594360" cy="11612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1463040" y="3211830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ctr"/>
            <a:r>
              <a:rPr lang="en-US" sz="1300" b="1">
                <a:solidFill>
                  <a:srgbClr val="0F172A"/>
                </a:solidFill>
              </a:rPr>
              <a:t>0σ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371600" y="1629918"/>
            <a:ext cx="1051560" cy="2286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ctr"/>
            <a:r>
              <a:rPr lang="en-US" sz="1300" b="1">
                <a:solidFill>
                  <a:srgbClr val="16A34A"/>
                </a:solidFill>
              </a:rPr>
              <a:t>+1.27%</a:t>
            </a:r>
          </a:p>
        </p:txBody>
      </p:sp>
      <p:sp>
        <p:nvSpPr>
          <p:cNvPr id="11" name="Shape 11"/>
          <p:cNvSpPr/>
          <p:nvPr/>
        </p:nvSpPr>
        <p:spPr>
          <a:xfrm>
            <a:off x="2834640" y="3102102"/>
            <a:ext cx="594360" cy="2468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2697480" y="3211830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ctr"/>
            <a:r>
              <a:rPr lang="en-US" sz="1300" b="1">
                <a:solidFill>
                  <a:srgbClr val="0F172A"/>
                </a:solidFill>
              </a:rPr>
              <a:t>5σ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2606040" y="3394710"/>
            <a:ext cx="1051560" cy="2286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ctr"/>
            <a:r>
              <a:rPr lang="en-US" sz="1300" b="1">
                <a:solidFill>
                  <a:srgbClr val="DC2626"/>
                </a:solidFill>
              </a:rPr>
              <a:t>-0.27%</a:t>
            </a:r>
          </a:p>
        </p:txBody>
      </p:sp>
      <p:sp>
        <p:nvSpPr>
          <p:cNvPr id="14" name="Shape 14"/>
          <p:cNvSpPr/>
          <p:nvPr/>
        </p:nvSpPr>
        <p:spPr>
          <a:xfrm>
            <a:off x="4069080" y="3102102"/>
            <a:ext cx="594360" cy="19202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3931920" y="3211830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ctr"/>
            <a:r>
              <a:rPr lang="en-US" sz="1300" b="1">
                <a:solidFill>
                  <a:srgbClr val="0F172A"/>
                </a:solidFill>
              </a:rPr>
              <a:t>10σ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3840480" y="3339846"/>
            <a:ext cx="1051560" cy="2286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ctr"/>
            <a:r>
              <a:rPr lang="en-US" sz="1300" b="1">
                <a:solidFill>
                  <a:srgbClr val="DC2626"/>
                </a:solidFill>
              </a:rPr>
              <a:t>-0.21%</a:t>
            </a:r>
          </a:p>
        </p:txBody>
      </p:sp>
      <p:sp>
        <p:nvSpPr>
          <p:cNvPr id="17" name="Shape 17"/>
          <p:cNvSpPr/>
          <p:nvPr/>
        </p:nvSpPr>
        <p:spPr>
          <a:xfrm>
            <a:off x="6355080" y="1417320"/>
            <a:ext cx="516636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8" name="Text 18"/>
          <p:cNvSpPr txBox="1"/>
          <p:nvPr/>
        </p:nvSpPr>
        <p:spPr>
          <a:xfrm>
            <a:off x="6583680" y="1554480"/>
            <a:ext cx="4709160" cy="27432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l"/>
            <a:r>
              <a:rPr lang="en-US" sz="1500" b="1">
                <a:solidFill>
                  <a:srgbClr val="0F172A"/>
                </a:solidFill>
              </a:rPr>
              <a:t>NAR: windows where COSA is worse</a:t>
            </a:r>
          </a:p>
        </p:txBody>
      </p:sp>
      <p:cxnSp>
        <p:nvCxnSpPr>
          <p:cNvPr id="19" name="Line 19"/>
          <p:cNvCxnSpPr/>
          <p:nvPr/>
        </p:nvCxnSpPr>
        <p:spPr>
          <a:xfrm>
            <a:off x="6858000" y="3977640"/>
            <a:ext cx="4343400" cy="0"/>
          </a:xfrm>
          <a:prstGeom prst="line">
            <a:avLst/>
          </a:prstGeom>
          <a:ln w="12000">
            <a:solidFill>
              <a:srgbClr val="94A3B8"/>
            </a:solidFill>
          </a:ln>
        </p:spPr>
      </p:cxnSp>
      <p:sp>
        <p:nvSpPr>
          <p:cNvPr id="20" name="Shape 20"/>
          <p:cNvSpPr/>
          <p:nvPr/>
        </p:nvSpPr>
        <p:spPr>
          <a:xfrm>
            <a:off x="7269480" y="3015675"/>
            <a:ext cx="594360" cy="9619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7132320" y="4087368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ctr"/>
            <a:r>
              <a:rPr lang="en-US" sz="1300" b="1">
                <a:solidFill>
                  <a:srgbClr val="0F172A"/>
                </a:solidFill>
              </a:rPr>
              <a:t>0σ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7022592" y="2723067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ctr"/>
            <a:r>
              <a:rPr lang="en-US" sz="1300" b="1">
                <a:solidFill>
                  <a:srgbClr val="F59E0B"/>
                </a:solidFill>
              </a:rPr>
              <a:t>37.1%</a:t>
            </a:r>
          </a:p>
        </p:txBody>
      </p:sp>
      <p:sp>
        <p:nvSpPr>
          <p:cNvPr id="23" name="Shape 23"/>
          <p:cNvSpPr/>
          <p:nvPr/>
        </p:nvSpPr>
        <p:spPr>
          <a:xfrm>
            <a:off x="8503920" y="2587416"/>
            <a:ext cx="594360" cy="1390223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txBody>
          <a:bodyPr/>
          <a:lstStyle/>
          <a:p/>
        </p:txBody>
      </p:sp>
      <p:sp>
        <p:nvSpPr>
          <p:cNvPr id="24" name="Text 24"/>
          <p:cNvSpPr txBox="1"/>
          <p:nvPr/>
        </p:nvSpPr>
        <p:spPr>
          <a:xfrm>
            <a:off x="8366760" y="4087368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ctr"/>
            <a:r>
              <a:rPr lang="en-US" sz="1300" b="1">
                <a:solidFill>
                  <a:srgbClr val="0F172A"/>
                </a:solidFill>
              </a:rPr>
              <a:t>5σ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8257032" y="2294808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ctr"/>
            <a:r>
              <a:rPr lang="en-US" sz="1300" b="1">
                <a:solidFill>
                  <a:srgbClr val="DC2626"/>
                </a:solidFill>
              </a:rPr>
              <a:t>53.7%</a:t>
            </a:r>
          </a:p>
        </p:txBody>
      </p:sp>
      <p:sp>
        <p:nvSpPr>
          <p:cNvPr id="26" name="Shape 26"/>
          <p:cNvSpPr/>
          <p:nvPr/>
        </p:nvSpPr>
        <p:spPr>
          <a:xfrm>
            <a:off x="9738360" y="2516428"/>
            <a:ext cx="594360" cy="1461211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9601200" y="4087368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ctr"/>
            <a:r>
              <a:rPr lang="en-US" sz="1300" b="1">
                <a:solidFill>
                  <a:srgbClr val="0F172A"/>
                </a:solidFill>
              </a:rPr>
              <a:t>10σ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9491472" y="222382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ctr"/>
            <a:r>
              <a:rPr lang="en-US" sz="1300" b="1">
                <a:solidFill>
                  <a:srgbClr val="DC2626"/>
                </a:solidFill>
              </a:rPr>
              <a:t>56.4%</a:t>
            </a:r>
          </a:p>
        </p:txBody>
      </p:sp>
      <p:cxnSp>
        <p:nvCxnSpPr>
          <p:cNvPr id="29" name="Line 29"/>
          <p:cNvCxnSpPr/>
          <p:nvPr/>
        </p:nvCxnSpPr>
        <p:spPr>
          <a:xfrm>
            <a:off x="6858000" y="2679192"/>
            <a:ext cx="4343400" cy="0"/>
          </a:xfrm>
          <a:prstGeom prst="line">
            <a:avLst/>
          </a:prstGeom>
          <a:ln w="10000">
            <a:solidFill>
              <a:srgbClr val="DC2626"/>
            </a:solidFill>
            <a:prstDash val="dash"/>
          </a:ln>
        </p:spPr>
      </p:cxnSp>
      <p:sp>
        <p:nvSpPr>
          <p:cNvPr id="30" name="Text 30"/>
          <p:cNvSpPr txBox="1"/>
          <p:nvPr/>
        </p:nvSpPr>
        <p:spPr>
          <a:xfrm>
            <a:off x="10469880" y="237744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r"/>
            <a:r>
              <a:rPr lang="en-US" sz="1200" b="1">
                <a:solidFill>
                  <a:srgbClr val="DC2626"/>
                </a:solidFill>
              </a:rPr>
              <a:t>50%</a:t>
            </a:r>
          </a:p>
        </p:txBody>
      </p:sp>
      <p:sp>
        <p:nvSpPr>
          <p:cNvPr id="31" name="Shape 31"/>
          <p:cNvSpPr/>
          <p:nvPr/>
        </p:nvSpPr>
        <p:spPr>
          <a:xfrm>
            <a:off x="777240" y="4892040"/>
            <a:ext cx="106527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32" name="Text 32"/>
          <p:cNvSpPr txBox="1"/>
          <p:nvPr/>
        </p:nvSpPr>
        <p:spPr>
          <a:xfrm>
            <a:off x="960120" y="5047488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ctr"/>
            <a:r>
              <a:rPr lang="en-US" sz="1200" b="1">
                <a:solidFill>
                  <a:srgbClr val="475569"/>
                </a:solidFill>
              </a:rPr>
              <a:t>Shift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2926080" y="5047488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ctr"/>
            <a:r>
              <a:rPr lang="en-US" sz="1200" b="1">
                <a:solidFill>
                  <a:srgbClr val="475569"/>
                </a:solidFill>
              </a:rPr>
              <a:t>Baseline MSE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4983480" y="5047488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ctr"/>
            <a:r>
              <a:rPr lang="en-US" sz="1200" b="1">
                <a:solidFill>
                  <a:srgbClr val="475569"/>
                </a:solidFill>
              </a:rPr>
              <a:t>COSA MSE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6995160" y="5047488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ctr"/>
            <a:r>
              <a:rPr lang="en-US" sz="1200" b="1">
                <a:solidFill>
                  <a:srgbClr val="475569"/>
                </a:solidFill>
              </a:rPr>
              <a:t>Improvement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9098280" y="5047488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ctr"/>
            <a:r>
              <a:rPr lang="en-US" sz="1200" b="1">
                <a:solidFill>
                  <a:srgbClr val="475569"/>
                </a:solidFill>
              </a:rPr>
              <a:t>NAR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960120" y="5376672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ctr"/>
            <a:r>
              <a:rPr lang="en-US" sz="1200" b="1">
                <a:solidFill>
                  <a:srgbClr val="0F172A"/>
                </a:solidFill>
              </a:rPr>
              <a:t>0σ clean</a:t>
            </a:r>
          </a:p>
        </p:txBody>
      </p:sp>
      <p:sp>
        <p:nvSpPr>
          <p:cNvPr id="38" name="Text 38"/>
          <p:cNvSpPr txBox="1"/>
          <p:nvPr/>
        </p:nvSpPr>
        <p:spPr>
          <a:xfrm>
            <a:off x="2926080" y="5376672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ctr"/>
            <a:r>
              <a:rPr lang="en-US" sz="1200" b="1">
                <a:solidFill>
                  <a:srgbClr val="0F172A"/>
                </a:solidFill>
              </a:rPr>
              <a:t>0.083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4983480" y="5376672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ctr"/>
            <a:r>
              <a:rPr lang="en-US" sz="1200" b="1">
                <a:solidFill>
                  <a:srgbClr val="0F172A"/>
                </a:solidFill>
              </a:rPr>
              <a:t>0.082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6995160" y="5376672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ctr"/>
            <a:r>
              <a:rPr lang="en-US" sz="1200" b="1">
                <a:solidFill>
                  <a:srgbClr val="15803D"/>
                </a:solidFill>
              </a:rPr>
              <a:t>+1.27%</a:t>
            </a:r>
          </a:p>
        </p:txBody>
      </p:sp>
      <p:sp>
        <p:nvSpPr>
          <p:cNvPr id="41" name="Text 41"/>
          <p:cNvSpPr txBox="1"/>
          <p:nvPr/>
        </p:nvSpPr>
        <p:spPr>
          <a:xfrm>
            <a:off x="9098280" y="5376672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ctr"/>
            <a:r>
              <a:rPr lang="en-US" sz="1200" b="1">
                <a:solidFill>
                  <a:srgbClr val="0F172A"/>
                </a:solidFill>
              </a:rPr>
              <a:t>37.13%</a:t>
            </a:r>
          </a:p>
        </p:txBody>
      </p:sp>
      <p:sp>
        <p:nvSpPr>
          <p:cNvPr id="42" name="Text 42"/>
          <p:cNvSpPr txBox="1"/>
          <p:nvPr/>
        </p:nvSpPr>
        <p:spPr>
          <a:xfrm>
            <a:off x="960120" y="5596128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ctr"/>
            <a:r>
              <a:rPr lang="en-US" sz="1200" b="1">
                <a:solidFill>
                  <a:srgbClr val="0F172A"/>
                </a:solidFill>
              </a:rPr>
              <a:t>5σ shift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2926080" y="5596128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ctr"/>
            <a:r>
              <a:rPr lang="en-US" sz="1200" b="1">
                <a:solidFill>
                  <a:srgbClr val="0F172A"/>
                </a:solidFill>
              </a:rPr>
              <a:t>0.551</a:t>
            </a:r>
          </a:p>
        </p:txBody>
      </p:sp>
      <p:sp>
        <p:nvSpPr>
          <p:cNvPr id="44" name="Text 44"/>
          <p:cNvSpPr txBox="1"/>
          <p:nvPr/>
        </p:nvSpPr>
        <p:spPr>
          <a:xfrm>
            <a:off x="4983480" y="5596128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ctr"/>
            <a:r>
              <a:rPr lang="en-US" sz="1200" b="1">
                <a:solidFill>
                  <a:srgbClr val="0F172A"/>
                </a:solidFill>
              </a:rPr>
              <a:t>0.552</a:t>
            </a:r>
          </a:p>
        </p:txBody>
      </p:sp>
      <p:sp>
        <p:nvSpPr>
          <p:cNvPr id="45" name="Text 45"/>
          <p:cNvSpPr txBox="1"/>
          <p:nvPr/>
        </p:nvSpPr>
        <p:spPr>
          <a:xfrm>
            <a:off x="6995160" y="5596128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ctr"/>
            <a:r>
              <a:rPr lang="en-US" sz="1200" b="1">
                <a:solidFill>
                  <a:srgbClr val="DC2626"/>
                </a:solidFill>
              </a:rPr>
              <a:t>-0.27%</a:t>
            </a:r>
          </a:p>
        </p:txBody>
      </p:sp>
      <p:sp>
        <p:nvSpPr>
          <p:cNvPr id="46" name="Text 46"/>
          <p:cNvSpPr txBox="1"/>
          <p:nvPr/>
        </p:nvSpPr>
        <p:spPr>
          <a:xfrm>
            <a:off x="9098280" y="5596128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ctr"/>
            <a:r>
              <a:rPr lang="en-US" sz="1200" b="1">
                <a:solidFill>
                  <a:srgbClr val="DC2626"/>
                </a:solidFill>
              </a:rPr>
              <a:t>53.66%</a:t>
            </a:r>
          </a:p>
        </p:txBody>
      </p:sp>
      <p:sp>
        <p:nvSpPr>
          <p:cNvPr id="47" name="Text 47"/>
          <p:cNvSpPr txBox="1"/>
          <p:nvPr/>
        </p:nvSpPr>
        <p:spPr>
          <a:xfrm>
            <a:off x="960120" y="5815583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ctr"/>
            <a:r>
              <a:rPr lang="en-US" sz="1200" b="1">
                <a:solidFill>
                  <a:srgbClr val="0F172A"/>
                </a:solidFill>
              </a:rPr>
              <a:t>10σ shift</a:t>
            </a:r>
          </a:p>
        </p:txBody>
      </p:sp>
      <p:sp>
        <p:nvSpPr>
          <p:cNvPr id="48" name="Text 48"/>
          <p:cNvSpPr txBox="1"/>
          <p:nvPr/>
        </p:nvSpPr>
        <p:spPr>
          <a:xfrm>
            <a:off x="2926080" y="5815583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ctr"/>
            <a:r>
              <a:rPr lang="en-US" sz="1200" b="1">
                <a:solidFill>
                  <a:srgbClr val="0F172A"/>
                </a:solidFill>
              </a:rPr>
              <a:t>2.163</a:t>
            </a:r>
          </a:p>
        </p:txBody>
      </p:sp>
      <p:sp>
        <p:nvSpPr>
          <p:cNvPr id="49" name="Text 49"/>
          <p:cNvSpPr txBox="1"/>
          <p:nvPr/>
        </p:nvSpPr>
        <p:spPr>
          <a:xfrm>
            <a:off x="4983480" y="5815583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ctr"/>
            <a:r>
              <a:rPr lang="en-US" sz="1200" b="1">
                <a:solidFill>
                  <a:srgbClr val="0F172A"/>
                </a:solidFill>
              </a:rPr>
              <a:t>2.167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6995160" y="5815583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ctr"/>
            <a:r>
              <a:rPr lang="en-US" sz="1200" b="1">
                <a:solidFill>
                  <a:srgbClr val="DC2626"/>
                </a:solidFill>
              </a:rPr>
              <a:t>-0.21%</a:t>
            </a:r>
          </a:p>
        </p:txBody>
      </p:sp>
      <p:sp>
        <p:nvSpPr>
          <p:cNvPr id="51" name="Text 51"/>
          <p:cNvSpPr txBox="1"/>
          <p:nvPr/>
        </p:nvSpPr>
        <p:spPr>
          <a:xfrm>
            <a:off x="9098280" y="5815583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ctr"/>
            <a:r>
              <a:rPr lang="en-US" sz="1200" b="1">
                <a:solidFill>
                  <a:srgbClr val="DC2626"/>
                </a:solidFill>
              </a:rPr>
              <a:t>56.40%</a:t>
            </a:r>
          </a:p>
        </p:txBody>
      </p:sp>
      <p:sp>
        <p:nvSpPr>
          <p:cNvPr id="52" name="Shape 52"/>
          <p:cNvSpPr/>
          <p:nvPr/>
        </p:nvSpPr>
        <p:spPr>
          <a:xfrm>
            <a:off x="3474720" y="6236208"/>
            <a:ext cx="5212080" cy="411480"/>
          </a:xfrm>
          <a:prstGeom prst="roundRect">
            <a:avLst/>
          </a:prstGeom>
          <a:solidFill>
            <a:srgbClr val="B91C1C"/>
          </a:solidFill>
          <a:ln w="12700">
            <a:solidFill>
              <a:srgbClr val="B91C1C"/>
            </a:solidFill>
          </a:ln>
        </p:spPr>
        <p:txBody>
          <a:bodyPr/>
          <a:lstStyle/>
          <a:p/>
        </p:txBody>
      </p:sp>
      <p:sp>
        <p:nvSpPr>
          <p:cNvPr id="53" name="Text 53"/>
          <p:cNvSpPr txBox="1"/>
          <p:nvPr/>
        </p:nvSpPr>
        <p:spPr>
          <a:xfrm>
            <a:off x="3520439" y="6300216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="mid" wrap="square">
            <a:sp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</a:rPr>
              <a:t>Under shifts, NAR rises above 50%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56032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l"/>
            <a:r>
              <a:rPr lang="en-US" sz="3200" b="1">
                <a:solidFill>
                  <a:srgbClr val="0F172A"/>
                </a:solidFill>
              </a:rPr>
              <a:t>Analysis and Takeaway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30352" y="804672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l"/>
            <a:r>
              <a:rPr lang="en-US" sz="1500">
                <a:solidFill>
                  <a:srgbClr val="475569"/>
                </a:solidFill>
              </a:rPr>
              <a:t>What we learned from the stress test</a:t>
            </a:r>
          </a:p>
        </p:txBody>
      </p:sp>
      <p:cxnSp>
        <p:nvCxnSpPr>
          <p:cNvPr id="4" name="Line 4"/>
          <p:cNvCxnSpPr/>
          <p:nvPr/>
        </p:nvCxnSpPr>
        <p:spPr>
          <a:xfrm>
            <a:off x="502920" y="1115568"/>
            <a:ext cx="11155680" cy="0"/>
          </a:xfrm>
          <a:prstGeom prst="line">
            <a:avLst/>
          </a:prstGeom>
          <a:ln w="11000">
            <a:solidFill>
              <a:srgbClr val="CBD5E1"/>
            </a:solidFill>
          </a:ln>
        </p:spPr>
      </p:cxnSp>
      <p:sp>
        <p:nvSpPr>
          <p:cNvPr id="5" name="Shape 5"/>
          <p:cNvSpPr/>
          <p:nvPr/>
        </p:nvSpPr>
        <p:spPr>
          <a:xfrm>
            <a:off x="685800" y="1691640"/>
            <a:ext cx="3246120" cy="18288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868680" y="1938528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ctr"/>
            <a:r>
              <a:rPr lang="en-US" sz="2300" b="1">
                <a:solidFill>
                  <a:srgbClr val="15803D"/>
                </a:solidFill>
              </a:rPr>
              <a:t>What worked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978408" y="251460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="mid" wrap="square">
            <a:spAutoFit/>
          </a:bodyPr>
          <a:lstStyle/>
          <a:p>
            <a:pPr algn="ctr"/>
            <a:r>
              <a:rPr lang="en-US" sz="2000" b="1">
                <a:solidFill>
                  <a:srgbClr val="0F172A"/>
                </a:solidFill>
              </a:rPr>
              <a:t>COSA gives small gains on clean streams.</a:t>
            </a:r>
          </a:p>
        </p:txBody>
      </p:sp>
      <p:sp>
        <p:nvSpPr>
          <p:cNvPr id="8" name="Shape 8"/>
          <p:cNvSpPr/>
          <p:nvPr/>
        </p:nvSpPr>
        <p:spPr>
          <a:xfrm>
            <a:off x="4480560" y="1691640"/>
            <a:ext cx="3246120" cy="18288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4663440" y="1938528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ctr"/>
            <a:r>
              <a:rPr lang="en-US" sz="2300" b="1">
                <a:solidFill>
                  <a:srgbClr val="B91C1C"/>
                </a:solidFill>
              </a:rPr>
              <a:t>What failed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4773168" y="251460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="mid" wrap="square">
            <a:spAutoFit/>
          </a:bodyPr>
          <a:lstStyle/>
          <a:p>
            <a:pPr algn="ctr"/>
            <a:r>
              <a:rPr lang="en-US" sz="2000" b="1">
                <a:solidFill>
                  <a:srgbClr val="0F172A"/>
                </a:solidFill>
              </a:rPr>
              <a:t>Abrupt shifts make recent context misleading.</a:t>
            </a:r>
          </a:p>
        </p:txBody>
      </p:sp>
      <p:sp>
        <p:nvSpPr>
          <p:cNvPr id="11" name="Shape 11"/>
          <p:cNvSpPr/>
          <p:nvPr/>
        </p:nvSpPr>
        <p:spPr>
          <a:xfrm>
            <a:off x="8275320" y="1691640"/>
            <a:ext cx="3246120" cy="18288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369A1"/>
            </a:solidFill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8458200" y="1938528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ctr"/>
            <a:r>
              <a:rPr lang="en-US" sz="2300" b="1">
                <a:solidFill>
                  <a:srgbClr val="0369A1"/>
                </a:solidFill>
              </a:rPr>
              <a:t>Future work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8567928" y="251460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="mid" wrap="square">
            <a:spAutoFit/>
          </a:bodyPr>
          <a:lstStyle/>
          <a:p>
            <a:pPr algn="ctr"/>
            <a:r>
              <a:rPr lang="en-US" sz="2000" b="1">
                <a:solidFill>
                  <a:srgbClr val="0F172A"/>
                </a:solidFill>
              </a:rPr>
              <a:t>Add shift detection or robust context filtering.</a:t>
            </a:r>
          </a:p>
        </p:txBody>
      </p:sp>
      <p:sp>
        <p:nvSpPr>
          <p:cNvPr id="14" name="Shape 14"/>
          <p:cNvSpPr/>
          <p:nvPr/>
        </p:nvSpPr>
        <p:spPr>
          <a:xfrm>
            <a:off x="914400" y="4343400"/>
            <a:ext cx="10195560" cy="1051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1234440" y="4617720"/>
            <a:ext cx="9555480" cy="41148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ctr"/>
            <a:r>
              <a:rPr lang="en-US" sz="2400" b="1">
                <a:solidFill>
                  <a:srgbClr val="FFFFFF"/>
                </a:solidFill>
              </a:rPr>
              <a:t>Takeaway: test-time adaptation should be evaluated under realistic non-IID stream changes, not only clean test splits.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1005840" y="589788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ctr"/>
            <a:r>
              <a:rPr lang="en-US" sz="1600">
                <a:solidFill>
                  <a:srgbClr val="475569"/>
                </a:solidFill>
              </a:rPr>
              <a:t>Suggested ending: COSA is useful, but black-swan robustness needs extra mechanisms.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SA Demo">
  <a:themeElements>
    <a:clrScheme name="COSA">
      <a:dk1>
        <a:srgbClr val="0F172A"/>
      </a:dk1>
      <a:lt1>
        <a:srgbClr val="FFFFFF"/>
      </a:lt1>
      <a:dk2>
        <a:srgbClr val="334155"/>
      </a:dk2>
      <a:lt2>
        <a:srgbClr val="F8FAFC"/>
      </a:lt2>
      <a:accent1>
        <a:srgbClr val="2563EB"/>
      </a:accent1>
      <a:accent2>
        <a:srgbClr val="16A34A"/>
      </a:accent2>
      <a:accent3>
        <a:srgbClr val="DC2626"/>
      </a:accent3>
      <a:accent4>
        <a:srgbClr val="F59E0B"/>
      </a:accent4>
      <a:accent5>
        <a:srgbClr val="0891B2"/>
      </a:accent5>
      <a:accent6>
        <a:srgbClr val="7C3AED"/>
      </a:accent6>
      <a:hlink>
        <a:srgbClr val="2563EB"/>
      </a:hlink>
      <a:folHlink>
        <a:srgbClr val="7C3AED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Defaul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6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COSA Presentation Demo</dc:title>
  <dc:creator>Codex</dc:creator>
  <cp:lastModifiedBy>Codex</cp:lastModifiedBy>
  <dcterms:created xsi:type="dcterms:W3CDTF">2026-06-06T08:19:07.162679+00:00</dcterms:created>
  <dcterms:modified xsi:type="dcterms:W3CDTF">2026-06-06T08:19:07.162679+00:00</dcterms:modified>
</cp:coreProperties>
</file>